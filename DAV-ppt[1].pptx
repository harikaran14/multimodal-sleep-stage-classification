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3" r:id="rId2"/>
    <p:sldId id="257" r:id="rId3"/>
    <p:sldId id="274" r:id="rId4"/>
    <p:sldId id="258" r:id="rId5"/>
    <p:sldId id="279" r:id="rId6"/>
    <p:sldId id="260" r:id="rId7"/>
    <p:sldId id="261" r:id="rId8"/>
    <p:sldId id="276" r:id="rId9"/>
    <p:sldId id="280" r:id="rId10"/>
    <p:sldId id="275" r:id="rId11"/>
    <p:sldId id="264" r:id="rId12"/>
    <p:sldId id="278" r:id="rId13"/>
    <p:sldId id="262" r:id="rId14"/>
    <p:sldId id="265" r:id="rId15"/>
    <p:sldId id="271" r:id="rId16"/>
    <p:sldId id="272" r:id="rId17"/>
  </p:sldIdLst>
  <p:sldSz cx="18288000" cy="10287000"/>
  <p:notesSz cx="6858000" cy="9144000"/>
  <p:embeddedFontLst>
    <p:embeddedFont>
      <p:font typeface="Canva Sans" panose="020B0604020202020204" charset="0"/>
      <p:regular r:id="rId19"/>
    </p:embeddedFont>
    <p:embeddedFont>
      <p:font typeface="Canva Sans Bold" panose="020B0604020202020204" charset="0"/>
      <p:regular r:id="rId20"/>
    </p:embeddedFont>
    <p:embeddedFont>
      <p:font typeface="Times New Roman Bold" panose="02020803070505020304" pitchFamily="18" charset="0"/>
      <p:regular r:id="rId21"/>
      <p:bold r:id="rId22"/>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94622" autoAdjust="0"/>
  </p:normalViewPr>
  <p:slideViewPr>
    <p:cSldViewPr>
      <p:cViewPr varScale="1">
        <p:scale>
          <a:sx n="65" d="100"/>
          <a:sy n="65" d="100"/>
        </p:scale>
        <p:origin x="82" y="38"/>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3.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font" Target="fonts/font1.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F965C5-1B68-4372-B551-B1EAF0831530}" type="datetimeFigureOut">
              <a:rPr lang="en-IN" smtClean="0"/>
              <a:t>25-11-2025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0F558C1-34A1-4758-AC42-7B4317FD97FC}" type="slidenum">
              <a:rPr lang="en-IN" smtClean="0"/>
              <a:t>‹#›</a:t>
            </a:fld>
            <a:endParaRPr lang="en-IN"/>
          </a:p>
        </p:txBody>
      </p:sp>
    </p:spTree>
    <p:extLst>
      <p:ext uri="{BB962C8B-B14F-4D97-AF65-F5344CB8AC3E}">
        <p14:creationId xmlns:p14="http://schemas.microsoft.com/office/powerpoint/2010/main" val="9129550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0F558C1-34A1-4758-AC42-7B4317FD97FC}" type="slidenum">
              <a:rPr lang="en-IN" smtClean="0"/>
              <a:t>7</a:t>
            </a:fld>
            <a:endParaRPr lang="en-IN"/>
          </a:p>
        </p:txBody>
      </p:sp>
    </p:spTree>
    <p:extLst>
      <p:ext uri="{BB962C8B-B14F-4D97-AF65-F5344CB8AC3E}">
        <p14:creationId xmlns:p14="http://schemas.microsoft.com/office/powerpoint/2010/main" val="374411363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85C78C2-A61E-7F8B-FE7D-CD51860610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0AB239B-5A0A-CF25-BC80-EA6F457AB1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7FC3764-BCA4-E79D-66E5-F08E5D5C6500}"/>
              </a:ext>
            </a:extLst>
          </p:cNvPr>
          <p:cNvSpPr>
            <a:spLocks noGrp="1"/>
          </p:cNvSpPr>
          <p:nvPr>
            <p:ph type="body" idx="1"/>
          </p:nvPr>
        </p:nvSpPr>
        <p:spPr/>
        <p:txBody>
          <a:bodyPr/>
          <a:lstStyle/>
          <a:p>
            <a:endParaRPr lang="en-IN" dirty="0"/>
          </a:p>
        </p:txBody>
      </p:sp>
      <p:sp>
        <p:nvSpPr>
          <p:cNvPr id="4" name="Slide Number Placeholder 3">
            <a:extLst>
              <a:ext uri="{FF2B5EF4-FFF2-40B4-BE49-F238E27FC236}">
                <a16:creationId xmlns:a16="http://schemas.microsoft.com/office/drawing/2014/main" id="{EC7CA1EA-E20C-41B1-2CA2-C085502EC44F}"/>
              </a:ext>
            </a:extLst>
          </p:cNvPr>
          <p:cNvSpPr>
            <a:spLocks noGrp="1"/>
          </p:cNvSpPr>
          <p:nvPr>
            <p:ph type="sldNum" sz="quarter" idx="5"/>
          </p:nvPr>
        </p:nvSpPr>
        <p:spPr/>
        <p:txBody>
          <a:bodyPr/>
          <a:lstStyle/>
          <a:p>
            <a:fld id="{50F558C1-34A1-4758-AC42-7B4317FD97FC}" type="slidenum">
              <a:rPr lang="en-IN" smtClean="0"/>
              <a:t>9</a:t>
            </a:fld>
            <a:endParaRPr lang="en-IN"/>
          </a:p>
        </p:txBody>
      </p:sp>
    </p:spTree>
    <p:extLst>
      <p:ext uri="{BB962C8B-B14F-4D97-AF65-F5344CB8AC3E}">
        <p14:creationId xmlns:p14="http://schemas.microsoft.com/office/powerpoint/2010/main" val="33614056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11/25/2025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11/25/2025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7.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1.png"/><Relationship Id="rId1" Type="http://schemas.openxmlformats.org/officeDocument/2006/relationships/slideLayout" Target="../slideLayouts/slideLayout7.xml"/><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85725"/>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a:stretch>
          </a:blipFill>
        </p:spPr>
        <p:txBody>
          <a:bodyPr/>
          <a:lstStyle/>
          <a:p>
            <a:endParaRPr lang="en-IN" dirty="0"/>
          </a:p>
        </p:txBody>
      </p:sp>
      <p:sp>
        <p:nvSpPr>
          <p:cNvPr id="3" name="TextBox 3"/>
          <p:cNvSpPr txBox="1"/>
          <p:nvPr/>
        </p:nvSpPr>
        <p:spPr>
          <a:xfrm>
            <a:off x="3702367" y="2800027"/>
            <a:ext cx="10883266" cy="615553"/>
          </a:xfrm>
          <a:prstGeom prst="rect">
            <a:avLst/>
          </a:prstGeom>
        </p:spPr>
        <p:txBody>
          <a:bodyPr wrap="square" lIns="0" tIns="0" rIns="0" bIns="0" rtlCol="0" anchor="t">
            <a:spAutoFit/>
          </a:bodyPr>
          <a:lstStyle/>
          <a:p>
            <a:r>
              <a:rPr lang="en-US" sz="4000" b="1" dirty="0"/>
              <a:t>UIT2502 – DATA ANALYTICS AND VISUALIZATION</a:t>
            </a:r>
            <a:endParaRPr lang="en-IN" sz="4000" b="1" dirty="0"/>
          </a:p>
        </p:txBody>
      </p:sp>
      <p:sp>
        <p:nvSpPr>
          <p:cNvPr id="4" name="TextBox 4"/>
          <p:cNvSpPr txBox="1"/>
          <p:nvPr/>
        </p:nvSpPr>
        <p:spPr>
          <a:xfrm>
            <a:off x="2209800" y="3771900"/>
            <a:ext cx="14844395" cy="823559"/>
          </a:xfrm>
          <a:prstGeom prst="rect">
            <a:avLst/>
          </a:prstGeom>
        </p:spPr>
        <p:txBody>
          <a:bodyPr wrap="square" lIns="0" tIns="0" rIns="0" bIns="0" rtlCol="0" anchor="t">
            <a:spAutoFit/>
          </a:bodyPr>
          <a:lstStyle/>
          <a:p>
            <a:pPr algn="ctr">
              <a:lnSpc>
                <a:spcPts val="7000"/>
              </a:lnSpc>
              <a:spcBef>
                <a:spcPct val="0"/>
              </a:spcBef>
            </a:pPr>
            <a:r>
              <a:rPr lang="en-US" sz="500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MULTIMODAL SLEEP STAGE CLASSIFICATION</a:t>
            </a:r>
          </a:p>
        </p:txBody>
      </p:sp>
      <p:sp>
        <p:nvSpPr>
          <p:cNvPr id="5" name="TextBox 5"/>
          <p:cNvSpPr txBox="1"/>
          <p:nvPr/>
        </p:nvSpPr>
        <p:spPr>
          <a:xfrm>
            <a:off x="2303074" y="361765"/>
            <a:ext cx="14029311" cy="2163746"/>
          </a:xfrm>
          <a:prstGeom prst="rect">
            <a:avLst/>
          </a:prstGeom>
        </p:spPr>
        <p:txBody>
          <a:bodyPr lIns="0" tIns="0" rIns="0" bIns="0" rtlCol="0" anchor="t">
            <a:spAutoFit/>
          </a:bodyPr>
          <a:lstStyle/>
          <a:p>
            <a:pPr algn="ctr">
              <a:lnSpc>
                <a:spcPts val="6180"/>
              </a:lnSpc>
            </a:pPr>
            <a:r>
              <a:rPr lang="en-US" sz="4415" b="1">
                <a:solidFill>
                  <a:srgbClr val="FFFFFF"/>
                </a:solidFill>
                <a:latin typeface="Times New Roman Bold" panose="02030802070405020303"/>
                <a:ea typeface="Times New Roman Bold" panose="02030802070405020303"/>
                <a:cs typeface="Times New Roman Bold" panose="02030802070405020303"/>
                <a:sym typeface="Times New Roman Bold" panose="02030802070405020303"/>
              </a:rPr>
              <a:t>SSN College of Engineering </a:t>
            </a:r>
          </a:p>
          <a:p>
            <a:pPr algn="ctr">
              <a:lnSpc>
                <a:spcPts val="5200"/>
              </a:lnSpc>
            </a:pPr>
            <a:r>
              <a:rPr lang="en-US" sz="3715" b="1">
                <a:solidFill>
                  <a:srgbClr val="FFFFFF"/>
                </a:solidFill>
                <a:latin typeface="Times New Roman Bold" panose="02030802070405020303"/>
                <a:ea typeface="Times New Roman Bold" panose="02030802070405020303"/>
                <a:cs typeface="Times New Roman Bold" panose="02030802070405020303"/>
                <a:sym typeface="Times New Roman Bold" panose="02030802070405020303"/>
              </a:rPr>
              <a:t>Department of Information Technology</a:t>
            </a:r>
          </a:p>
          <a:p>
            <a:pPr algn="ctr">
              <a:lnSpc>
                <a:spcPts val="5200"/>
              </a:lnSpc>
            </a:pPr>
            <a:endParaRPr lang="en-US" sz="3715" b="1">
              <a:solidFill>
                <a:srgbClr val="FFFFFF"/>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6" name="TextBox 6"/>
          <p:cNvSpPr txBox="1"/>
          <p:nvPr/>
        </p:nvSpPr>
        <p:spPr>
          <a:xfrm>
            <a:off x="7239000" y="8076386"/>
            <a:ext cx="6688051" cy="1908599"/>
          </a:xfrm>
          <a:prstGeom prst="rect">
            <a:avLst/>
          </a:prstGeom>
        </p:spPr>
        <p:txBody>
          <a:bodyPr wrap="square" lIns="0" tIns="0" rIns="0" bIns="0" rtlCol="0" anchor="t">
            <a:spAutoFit/>
          </a:bodyPr>
          <a:lstStyle/>
          <a:p>
            <a:pPr algn="l">
              <a:lnSpc>
                <a:spcPts val="3780"/>
              </a:lnSpc>
            </a:pPr>
            <a:r>
              <a:rPr lang="en-US" sz="27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Harikaran C 3122235002040</a:t>
            </a:r>
          </a:p>
          <a:p>
            <a:pPr>
              <a:lnSpc>
                <a:spcPts val="3780"/>
              </a:lnSpc>
            </a:pPr>
            <a:r>
              <a:rPr lang="en-US" sz="27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Priyan RR    3122235002092</a:t>
            </a:r>
          </a:p>
          <a:p>
            <a:pPr algn="l">
              <a:lnSpc>
                <a:spcPts val="3780"/>
              </a:lnSpc>
            </a:pPr>
            <a:endParaRPr lang="en-US" sz="27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algn="l">
              <a:lnSpc>
                <a:spcPts val="3780"/>
              </a:lnSpc>
              <a:spcBef>
                <a:spcPct val="0"/>
              </a:spcBef>
            </a:pPr>
            <a:endParaRPr lang="en-US" sz="2700"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p:txBody>
      </p:sp>
      <p:sp>
        <p:nvSpPr>
          <p:cNvPr id="7" name="TextBox 7"/>
          <p:cNvSpPr txBox="1"/>
          <p:nvPr/>
        </p:nvSpPr>
        <p:spPr>
          <a:xfrm>
            <a:off x="7899400" y="7214235"/>
            <a:ext cx="4249420" cy="538480"/>
          </a:xfrm>
          <a:prstGeom prst="rect">
            <a:avLst/>
          </a:prstGeom>
        </p:spPr>
        <p:txBody>
          <a:bodyPr wrap="square" lIns="0" tIns="0" rIns="0" bIns="0" rtlCol="0" anchor="t">
            <a:spAutoFit/>
          </a:bodyPr>
          <a:lstStyle/>
          <a:p>
            <a:pPr algn="l">
              <a:lnSpc>
                <a:spcPts val="4200"/>
              </a:lnSpc>
              <a:spcBef>
                <a:spcPct val="0"/>
              </a:spcBef>
            </a:pPr>
            <a:r>
              <a:rPr lang="en-US" sz="3000" b="1">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Team Members</a:t>
            </a:r>
          </a:p>
        </p:txBody>
      </p:sp>
      <p:sp>
        <p:nvSpPr>
          <p:cNvPr id="8" name="TextBox 8"/>
          <p:cNvSpPr txBox="1"/>
          <p:nvPr/>
        </p:nvSpPr>
        <p:spPr>
          <a:xfrm>
            <a:off x="5961149" y="5038725"/>
            <a:ext cx="6187440" cy="1583689"/>
          </a:xfrm>
          <a:prstGeom prst="rect">
            <a:avLst/>
          </a:prstGeom>
        </p:spPr>
        <p:txBody>
          <a:bodyPr lIns="0" tIns="0" rIns="0" bIns="0" rtlCol="0" anchor="t">
            <a:spAutoFit/>
          </a:bodyPr>
          <a:lstStyle/>
          <a:p>
            <a:pPr algn="ctr">
              <a:lnSpc>
                <a:spcPts val="4060"/>
              </a:lnSpc>
            </a:pPr>
            <a:r>
              <a:rPr lang="en-US" sz="2900"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Dr K.S. Gayathri</a:t>
            </a:r>
          </a:p>
          <a:p>
            <a:pPr algn="ctr">
              <a:lnSpc>
                <a:spcPts val="4060"/>
              </a:lnSpc>
            </a:pPr>
            <a:r>
              <a:rPr lang="en-US" sz="29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Associate Professor</a:t>
            </a:r>
          </a:p>
          <a:p>
            <a:pPr algn="ctr">
              <a:lnSpc>
                <a:spcPts val="4060"/>
              </a:lnSpc>
              <a:spcBef>
                <a:spcPct val="0"/>
              </a:spcBef>
            </a:pPr>
            <a:r>
              <a:rPr lang="en-US" sz="2900"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Department of Information Technology</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a:p>
          </p:txBody>
        </p:sp>
      </p:grpSp>
      <p:sp>
        <p:nvSpPr>
          <p:cNvPr id="4" name="TextBox 4"/>
          <p:cNvSpPr txBox="1"/>
          <p:nvPr/>
        </p:nvSpPr>
        <p:spPr>
          <a:xfrm>
            <a:off x="5267146" y="581025"/>
            <a:ext cx="7744183" cy="1239507"/>
          </a:xfrm>
          <a:prstGeom prst="rect">
            <a:avLst/>
          </a:prstGeom>
        </p:spPr>
        <p:txBody>
          <a:bodyPr lIns="0" tIns="0" rIns="0" bIns="0" rtlCol="0" anchor="t">
            <a:spAutoFit/>
          </a:bodyPr>
          <a:lstStyle/>
          <a:p>
            <a:pPr algn="ctr">
              <a:lnSpc>
                <a:spcPts val="7280"/>
              </a:lnSpc>
            </a:pPr>
            <a:r>
              <a:rPr lang="en-US" sz="5200" b="1">
                <a:solidFill>
                  <a:srgbClr val="004AAD"/>
                </a:solidFill>
                <a:latin typeface="Times New Roman Bold"/>
                <a:ea typeface="Times New Roman Bold"/>
                <a:cs typeface="Times New Roman Bold"/>
                <a:sym typeface="Times New Roman Bold"/>
              </a:rPr>
              <a:t>PROBLEM STATEMENT</a:t>
            </a:r>
          </a:p>
        </p:txBody>
      </p:sp>
      <p:sp>
        <p:nvSpPr>
          <p:cNvPr id="5" name="TextBox 5"/>
          <p:cNvSpPr txBox="1"/>
          <p:nvPr/>
        </p:nvSpPr>
        <p:spPr>
          <a:xfrm>
            <a:off x="1579260" y="1943100"/>
            <a:ext cx="15119953" cy="7201972"/>
          </a:xfrm>
          <a:prstGeom prst="rect">
            <a:avLst/>
          </a:prstGeom>
        </p:spPr>
        <p:txBody>
          <a:bodyPr lIns="0" tIns="0" rIns="0" bIns="0" rtlCol="0" anchor="t">
            <a:spAutoFit/>
          </a:bodyPr>
          <a:lstStyle/>
          <a:p>
            <a:r>
              <a:rPr lang="en-US" sz="3600" dirty="0">
                <a:latin typeface="Times New Roman" panose="02020603050405020304" pitchFamily="18" charset="0"/>
                <a:cs typeface="Times New Roman" panose="02020603050405020304" pitchFamily="18" charset="0"/>
              </a:rPr>
              <a:t>Manual sleep scoring by specialists is extremely time-consuming, costly, and prone to human subjectivity, creating a significant bottleneck in diagnosing sleep disorders. </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Sleep stages are defined by a complex interplay of physiological signals. Relying on a single signal (like EEG alone) is insufficient and leads to critical errors. Distinguishing complex stages like REM sleep is impossible without simultaneously analyzing brain activity (EEG), eye movements (EOG), and muscle tone (EMG). </a:t>
            </a:r>
          </a:p>
          <a:p>
            <a:endParaRPr lang="en-US" sz="3600" dirty="0">
              <a:latin typeface="Times New Roman" panose="02020603050405020304" pitchFamily="18" charset="0"/>
              <a:cs typeface="Times New Roman" panose="02020603050405020304" pitchFamily="18" charset="0"/>
            </a:endParaRPr>
          </a:p>
          <a:p>
            <a:r>
              <a:rPr lang="en-US" sz="3600" dirty="0">
                <a:latin typeface="Times New Roman" panose="02020603050405020304" pitchFamily="18" charset="0"/>
                <a:cs typeface="Times New Roman" panose="02020603050405020304" pitchFamily="18" charset="0"/>
              </a:rPr>
              <a:t>There is a critical need for an automated system that can intelligently fuse and interpret these multimodal signals, providing an accurate, objective, and rapid classification of sleep stages to accelerate both clinical diagnosis and research</a:t>
            </a:r>
            <a:endParaRPr lang="en-IN" sz="36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a:extLst>
              <a:ext uri="{FF2B5EF4-FFF2-40B4-BE49-F238E27FC236}">
                <a16:creationId xmlns:a16="http://schemas.microsoft.com/office/drawing/2014/main" id="{6C582A94-C784-0912-E450-22FC1876D23F}"/>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C9A54F3F-11CE-A0D3-9E45-076AF64796F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a:p>
          </p:txBody>
        </p:sp>
      </p:grpSp>
      <p:sp>
        <p:nvSpPr>
          <p:cNvPr id="4" name="TextBox 6">
            <a:extLst>
              <a:ext uri="{FF2B5EF4-FFF2-40B4-BE49-F238E27FC236}">
                <a16:creationId xmlns:a16="http://schemas.microsoft.com/office/drawing/2014/main" id="{D7F957AD-9C60-3FFF-1D88-9F721C46BA0F}"/>
              </a:ext>
            </a:extLst>
          </p:cNvPr>
          <p:cNvSpPr txBox="1"/>
          <p:nvPr/>
        </p:nvSpPr>
        <p:spPr>
          <a:xfrm>
            <a:off x="6593194" y="480664"/>
            <a:ext cx="5101612" cy="564385"/>
          </a:xfrm>
          <a:prstGeom prst="rect">
            <a:avLst/>
          </a:prstGeom>
        </p:spPr>
        <p:txBody>
          <a:bodyPr lIns="0" tIns="0" rIns="0" bIns="0" rtlCol="0" anchor="t">
            <a:spAutoFit/>
          </a:bodyPr>
          <a:lstStyle/>
          <a:p>
            <a:pPr algn="ctr">
              <a:lnSpc>
                <a:spcPts val="4786"/>
              </a:lnSpc>
              <a:spcBef>
                <a:spcPct val="0"/>
              </a:spcBef>
            </a:pPr>
            <a:r>
              <a:rPr lang="en-US" sz="3417" b="1" dirty="0">
                <a:solidFill>
                  <a:srgbClr val="004AAD"/>
                </a:solidFill>
                <a:latin typeface="Times New Roman Bold"/>
                <a:ea typeface="Times New Roman Bold"/>
                <a:cs typeface="Times New Roman Bold"/>
                <a:sym typeface="Times New Roman Bold"/>
              </a:rPr>
              <a:t>OBJECTIVE</a:t>
            </a:r>
          </a:p>
        </p:txBody>
      </p:sp>
      <p:sp>
        <p:nvSpPr>
          <p:cNvPr id="8" name="TextBox 7">
            <a:extLst>
              <a:ext uri="{FF2B5EF4-FFF2-40B4-BE49-F238E27FC236}">
                <a16:creationId xmlns:a16="http://schemas.microsoft.com/office/drawing/2014/main" id="{EB66E423-9368-20E2-829B-9CAF5E7EE459}"/>
              </a:ext>
            </a:extLst>
          </p:cNvPr>
          <p:cNvSpPr txBox="1"/>
          <p:nvPr/>
        </p:nvSpPr>
        <p:spPr>
          <a:xfrm>
            <a:off x="1752600" y="2247901"/>
            <a:ext cx="14325600" cy="6186309"/>
          </a:xfrm>
          <a:prstGeom prst="rect">
            <a:avLst/>
          </a:prstGeom>
          <a:noFill/>
        </p:spPr>
        <p:txBody>
          <a:bodyPr wrap="square">
            <a:spAutoFit/>
          </a:bodyPr>
          <a:lstStyle/>
          <a:p>
            <a:r>
              <a:rPr lang="en-IN" sz="3600" b="1" dirty="0">
                <a:latin typeface="Times New Roman" panose="02020603050405020304" pitchFamily="18" charset="0"/>
                <a:cs typeface="Times New Roman" panose="02020603050405020304" pitchFamily="18" charset="0"/>
              </a:rPr>
              <a:t>Data Ingestion</a:t>
            </a:r>
            <a:r>
              <a:rPr lang="en-IN" sz="3600" dirty="0">
                <a:latin typeface="Times New Roman" panose="02020603050405020304" pitchFamily="18" charset="0"/>
                <a:cs typeface="Times New Roman" panose="02020603050405020304" pitchFamily="18" charset="0"/>
              </a:rPr>
              <a:t>: To ingest and synchronize multimodal PSG recordings (EEG, EOG, EMG, Respiration, Temperature).</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Analysis</a:t>
            </a:r>
            <a:r>
              <a:rPr lang="en-IN" sz="3600" dirty="0">
                <a:latin typeface="Times New Roman" panose="02020603050405020304" pitchFamily="18" charset="0"/>
                <a:cs typeface="Times New Roman" panose="02020603050405020304" pitchFamily="18" charset="0"/>
              </a:rPr>
              <a:t>: To perform rigorous Exploratory Data Analysis (EDA) to understand sleep architecture and signal distributions.</a:t>
            </a:r>
          </a:p>
          <a:p>
            <a:endParaRPr lang="en-IN" sz="3600"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Classification</a:t>
            </a:r>
            <a:r>
              <a:rPr lang="en-IN" sz="3600" dirty="0">
                <a:latin typeface="Times New Roman" panose="02020603050405020304" pitchFamily="18" charset="0"/>
                <a:cs typeface="Times New Roman" panose="02020603050405020304" pitchFamily="18" charset="0"/>
              </a:rPr>
              <a:t>: To develop a hybrid CNN-LSTM model that extracts spatial features and learns temporal dependencies for 5-class sleep staging.</a:t>
            </a:r>
          </a:p>
          <a:p>
            <a:endParaRPr lang="en-IN" sz="3600" b="1" dirty="0">
              <a:latin typeface="Times New Roman" panose="02020603050405020304" pitchFamily="18" charset="0"/>
              <a:cs typeface="Times New Roman" panose="02020603050405020304" pitchFamily="18" charset="0"/>
            </a:endParaRPr>
          </a:p>
          <a:p>
            <a:r>
              <a:rPr lang="en-IN" sz="3600" b="1" dirty="0">
                <a:latin typeface="Times New Roman" panose="02020603050405020304" pitchFamily="18" charset="0"/>
                <a:cs typeface="Times New Roman" panose="02020603050405020304" pitchFamily="18" charset="0"/>
              </a:rPr>
              <a:t>Validation</a:t>
            </a:r>
            <a:r>
              <a:rPr lang="en-IN" sz="3600" dirty="0">
                <a:latin typeface="Times New Roman" panose="02020603050405020304" pitchFamily="18" charset="0"/>
                <a:cs typeface="Times New Roman" panose="02020603050405020304" pitchFamily="18" charset="0"/>
              </a:rPr>
              <a:t>: To statistically validate feature significance (ANOVA) and evaluate model performance using confusion matrices and accuracy curves.</a:t>
            </a:r>
          </a:p>
        </p:txBody>
      </p:sp>
    </p:spTree>
    <p:extLst>
      <p:ext uri="{BB962C8B-B14F-4D97-AF65-F5344CB8AC3E}">
        <p14:creationId xmlns:p14="http://schemas.microsoft.com/office/powerpoint/2010/main" val="41655206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a:p>
          </p:txBody>
        </p:sp>
      </p:grpSp>
      <p:sp>
        <p:nvSpPr>
          <p:cNvPr id="4" name="TextBox 4"/>
          <p:cNvSpPr txBox="1"/>
          <p:nvPr/>
        </p:nvSpPr>
        <p:spPr>
          <a:xfrm>
            <a:off x="1028700" y="1489424"/>
            <a:ext cx="16407249" cy="7496604"/>
          </a:xfrm>
          <a:prstGeom prst="rect">
            <a:avLst/>
          </a:prstGeom>
        </p:spPr>
        <p:txBody>
          <a:bodyPr lIns="0" tIns="0" rIns="0" bIns="0" rtlCol="0" anchor="t">
            <a:spAutoFit/>
          </a:bodyPr>
          <a:lstStyle/>
          <a:p>
            <a:pPr marL="457200" indent="-457200" algn="l">
              <a:lnSpc>
                <a:spcPts val="4227"/>
              </a:lnSpc>
              <a:spcBef>
                <a:spcPct val="0"/>
              </a:spcBef>
              <a:buFont typeface="Arial" panose="020B0604020202020204" pitchFamily="34" charset="0"/>
              <a:buChar char="•"/>
            </a:pPr>
            <a:r>
              <a:rPr lang="en-US" sz="3019" b="1" dirty="0">
                <a:solidFill>
                  <a:srgbClr val="000000"/>
                </a:solidFill>
                <a:latin typeface="Times New Roman"/>
                <a:ea typeface="Times New Roman"/>
                <a:cs typeface="Times New Roman"/>
                <a:sym typeface="Times New Roman"/>
              </a:rPr>
              <a:t>Source</a:t>
            </a:r>
            <a:r>
              <a:rPr lang="en-US" sz="3019" dirty="0">
                <a:solidFill>
                  <a:srgbClr val="000000"/>
                </a:solidFill>
                <a:latin typeface="Times New Roman"/>
                <a:ea typeface="Times New Roman"/>
                <a:cs typeface="Times New Roman"/>
                <a:sym typeface="Times New Roman"/>
              </a:rPr>
              <a:t>: PhysioNet Sleep-EDF Database (Expanded)</a:t>
            </a:r>
          </a:p>
          <a:p>
            <a:pPr marL="457200" indent="-457200" algn="l">
              <a:lnSpc>
                <a:spcPts val="4227"/>
              </a:lnSpc>
              <a:spcBef>
                <a:spcPct val="0"/>
              </a:spcBef>
              <a:buFont typeface="Arial" panose="020B0604020202020204" pitchFamily="34" charset="0"/>
              <a:buChar char="•"/>
            </a:pPr>
            <a:r>
              <a:rPr lang="en-US" sz="3019" b="1" dirty="0">
                <a:solidFill>
                  <a:srgbClr val="000000"/>
                </a:solidFill>
                <a:latin typeface="Times New Roman"/>
                <a:ea typeface="Times New Roman"/>
                <a:cs typeface="Times New Roman"/>
                <a:sym typeface="Times New Roman"/>
              </a:rPr>
              <a:t>Data Structure</a:t>
            </a:r>
            <a:r>
              <a:rPr lang="en-US" sz="3019" dirty="0">
                <a:solidFill>
                  <a:srgbClr val="000000"/>
                </a:solidFill>
                <a:latin typeface="Times New Roman"/>
                <a:ea typeface="Times New Roman"/>
                <a:cs typeface="Times New Roman"/>
                <a:sym typeface="Times New Roman"/>
              </a:rPr>
              <a:t>: Full overnight Polysomnography (PSG) recordings matched with expert-annotated Hypnograms.</a:t>
            </a:r>
          </a:p>
          <a:p>
            <a:pPr marL="457200" indent="-457200" algn="l">
              <a:lnSpc>
                <a:spcPts val="4227"/>
              </a:lnSpc>
              <a:spcBef>
                <a:spcPct val="0"/>
              </a:spcBef>
              <a:buFont typeface="Arial" panose="020B0604020202020204" pitchFamily="34" charset="0"/>
              <a:buChar char="•"/>
            </a:pPr>
            <a:r>
              <a:rPr lang="en-US" sz="3019" b="1" dirty="0">
                <a:solidFill>
                  <a:srgbClr val="000000"/>
                </a:solidFill>
                <a:latin typeface="Times New Roman"/>
                <a:ea typeface="Times New Roman"/>
                <a:cs typeface="Times New Roman"/>
                <a:sym typeface="Times New Roman"/>
              </a:rPr>
              <a:t>Key Channels Used</a:t>
            </a:r>
            <a:r>
              <a:rPr lang="en-US" sz="3019" dirty="0">
                <a:solidFill>
                  <a:srgbClr val="000000"/>
                </a:solidFill>
                <a:latin typeface="Times New Roman"/>
                <a:ea typeface="Times New Roman"/>
                <a:cs typeface="Times New Roman"/>
                <a:sym typeface="Times New Roman"/>
              </a:rPr>
              <a:t> :</a:t>
            </a:r>
          </a:p>
          <a:p>
            <a:pPr lvl="1">
              <a:lnSpc>
                <a:spcPts val="4227"/>
              </a:lnSpc>
              <a:spcBef>
                <a:spcPct val="0"/>
              </a:spcBef>
            </a:pPr>
            <a:r>
              <a:rPr lang="en-US" sz="3019" dirty="0">
                <a:solidFill>
                  <a:srgbClr val="000000"/>
                </a:solidFill>
                <a:latin typeface="Times New Roman"/>
                <a:ea typeface="Times New Roman"/>
                <a:cs typeface="Times New Roman"/>
                <a:sym typeface="Times New Roman"/>
              </a:rPr>
              <a:t>EEG (</a:t>
            </a:r>
            <a:r>
              <a:rPr lang="en-US" sz="3019" dirty="0" err="1">
                <a:solidFill>
                  <a:srgbClr val="000000"/>
                </a:solidFill>
                <a:latin typeface="Times New Roman"/>
                <a:ea typeface="Times New Roman"/>
                <a:cs typeface="Times New Roman"/>
                <a:sym typeface="Times New Roman"/>
              </a:rPr>
              <a:t>Fpz</a:t>
            </a:r>
            <a:r>
              <a:rPr lang="en-US" sz="3019" dirty="0">
                <a:solidFill>
                  <a:srgbClr val="000000"/>
                </a:solidFill>
                <a:latin typeface="Times New Roman"/>
                <a:ea typeface="Times New Roman"/>
                <a:cs typeface="Times New Roman"/>
                <a:sym typeface="Times New Roman"/>
              </a:rPr>
              <a:t>–</a:t>
            </a:r>
            <a:r>
              <a:rPr lang="en-US" sz="3019" dirty="0" err="1">
                <a:solidFill>
                  <a:srgbClr val="000000"/>
                </a:solidFill>
                <a:latin typeface="Times New Roman"/>
                <a:ea typeface="Times New Roman"/>
                <a:cs typeface="Times New Roman"/>
                <a:sym typeface="Times New Roman"/>
              </a:rPr>
              <a:t>Cz</a:t>
            </a:r>
            <a:r>
              <a:rPr lang="en-US" sz="3019" dirty="0">
                <a:solidFill>
                  <a:srgbClr val="000000"/>
                </a:solidFill>
                <a:latin typeface="Times New Roman"/>
                <a:ea typeface="Times New Roman"/>
                <a:cs typeface="Times New Roman"/>
                <a:sym typeface="Times New Roman"/>
              </a:rPr>
              <a:t>): Primary brainwave analysis.</a:t>
            </a:r>
          </a:p>
          <a:p>
            <a:pPr lvl="1">
              <a:lnSpc>
                <a:spcPts val="4227"/>
              </a:lnSpc>
              <a:spcBef>
                <a:spcPct val="0"/>
              </a:spcBef>
            </a:pPr>
            <a:r>
              <a:rPr lang="en-US" sz="3019" dirty="0">
                <a:solidFill>
                  <a:srgbClr val="000000"/>
                </a:solidFill>
                <a:latin typeface="Times New Roman"/>
                <a:ea typeface="Times New Roman"/>
                <a:cs typeface="Times New Roman"/>
                <a:sym typeface="Times New Roman"/>
              </a:rPr>
              <a:t>EOG (Horizontal): Detecting Rapid Eye Movements.</a:t>
            </a:r>
          </a:p>
          <a:p>
            <a:pPr lvl="1">
              <a:lnSpc>
                <a:spcPts val="4227"/>
              </a:lnSpc>
              <a:spcBef>
                <a:spcPct val="0"/>
              </a:spcBef>
            </a:pPr>
            <a:r>
              <a:rPr lang="en-US" sz="3019" dirty="0">
                <a:solidFill>
                  <a:srgbClr val="000000"/>
                </a:solidFill>
                <a:latin typeface="Times New Roman"/>
                <a:ea typeface="Times New Roman"/>
                <a:cs typeface="Times New Roman"/>
                <a:sym typeface="Times New Roman"/>
              </a:rPr>
              <a:t>EMG (Submental): Measuring muscle atonia.</a:t>
            </a:r>
          </a:p>
          <a:p>
            <a:pPr lvl="1">
              <a:lnSpc>
                <a:spcPts val="4227"/>
              </a:lnSpc>
              <a:spcBef>
                <a:spcPct val="0"/>
              </a:spcBef>
            </a:pPr>
            <a:r>
              <a:rPr lang="en-US" sz="3019" dirty="0">
                <a:solidFill>
                  <a:srgbClr val="000000"/>
                </a:solidFill>
                <a:latin typeface="Times New Roman"/>
                <a:ea typeface="Times New Roman"/>
                <a:cs typeface="Times New Roman"/>
                <a:sym typeface="Times New Roman"/>
              </a:rPr>
              <a:t>Contextual: Respiration (Airflow) &amp; Temperature (Rectal).</a:t>
            </a:r>
          </a:p>
          <a:p>
            <a:pPr algn="l">
              <a:lnSpc>
                <a:spcPts val="4227"/>
              </a:lnSpc>
              <a:spcBef>
                <a:spcPct val="0"/>
              </a:spcBef>
            </a:pPr>
            <a:r>
              <a:rPr lang="en-US" sz="3019" b="1" dirty="0">
                <a:solidFill>
                  <a:srgbClr val="000000"/>
                </a:solidFill>
                <a:latin typeface="Times New Roman"/>
                <a:ea typeface="Times New Roman"/>
                <a:cs typeface="Times New Roman"/>
                <a:sym typeface="Times New Roman"/>
              </a:rPr>
              <a:t>Granularity</a:t>
            </a:r>
            <a:r>
              <a:rPr lang="en-US" sz="3019" dirty="0">
                <a:solidFill>
                  <a:srgbClr val="000000"/>
                </a:solidFill>
                <a:latin typeface="Times New Roman"/>
                <a:ea typeface="Times New Roman"/>
                <a:cs typeface="Times New Roman"/>
                <a:sym typeface="Times New Roman"/>
              </a:rPr>
              <a:t>: Data segmented into 30-second epochs.</a:t>
            </a:r>
          </a:p>
          <a:p>
            <a:pPr algn="l">
              <a:lnSpc>
                <a:spcPts val="4227"/>
              </a:lnSpc>
              <a:spcBef>
                <a:spcPct val="0"/>
              </a:spcBef>
            </a:pPr>
            <a:r>
              <a:rPr lang="en-US" sz="3019" b="1" dirty="0">
                <a:solidFill>
                  <a:srgbClr val="000000"/>
                </a:solidFill>
                <a:latin typeface="Times New Roman Bold"/>
                <a:ea typeface="Times New Roman Bold"/>
                <a:cs typeface="Times New Roman Bold"/>
                <a:sym typeface="Times New Roman Bold"/>
              </a:rPr>
              <a:t>Total Epochs</a:t>
            </a:r>
            <a:r>
              <a:rPr lang="en-US" sz="3019" dirty="0">
                <a:solidFill>
                  <a:srgbClr val="000000"/>
                </a:solidFill>
                <a:latin typeface="Times New Roman"/>
                <a:ea typeface="Times New Roman"/>
                <a:cs typeface="Times New Roman"/>
                <a:sym typeface="Times New Roman"/>
              </a:rPr>
              <a:t>: 27000</a:t>
            </a:r>
          </a:p>
          <a:p>
            <a:pPr algn="l">
              <a:lnSpc>
                <a:spcPts val="4227"/>
              </a:lnSpc>
              <a:spcBef>
                <a:spcPct val="0"/>
              </a:spcBef>
            </a:pPr>
            <a:r>
              <a:rPr lang="en-US" sz="3019" b="1" dirty="0">
                <a:solidFill>
                  <a:srgbClr val="000000"/>
                </a:solidFill>
                <a:latin typeface="Times New Roman Bold"/>
                <a:ea typeface="Times New Roman Bold"/>
                <a:cs typeface="Times New Roman Bold"/>
                <a:sym typeface="Times New Roman Bold"/>
              </a:rPr>
              <a:t>Train</a:t>
            </a:r>
            <a:r>
              <a:rPr lang="en-US" sz="3019" dirty="0">
                <a:solidFill>
                  <a:srgbClr val="000000"/>
                </a:solidFill>
                <a:latin typeface="Times New Roman"/>
                <a:ea typeface="Times New Roman"/>
                <a:cs typeface="Times New Roman"/>
                <a:sym typeface="Times New Roman"/>
              </a:rPr>
              <a:t>: 21600 (80%)</a:t>
            </a:r>
          </a:p>
          <a:p>
            <a:pPr algn="l">
              <a:lnSpc>
                <a:spcPts val="4227"/>
              </a:lnSpc>
              <a:spcBef>
                <a:spcPct val="0"/>
              </a:spcBef>
            </a:pPr>
            <a:r>
              <a:rPr lang="en-US" sz="3019" b="1" dirty="0">
                <a:solidFill>
                  <a:srgbClr val="000000"/>
                </a:solidFill>
                <a:latin typeface="Times New Roman Bold"/>
                <a:ea typeface="Times New Roman Bold"/>
                <a:cs typeface="Times New Roman Bold"/>
                <a:sym typeface="Times New Roman Bold"/>
              </a:rPr>
              <a:t>Validation</a:t>
            </a:r>
            <a:r>
              <a:rPr lang="en-US" sz="3019" dirty="0">
                <a:solidFill>
                  <a:srgbClr val="000000"/>
                </a:solidFill>
                <a:latin typeface="Times New Roman"/>
                <a:ea typeface="Times New Roman"/>
                <a:cs typeface="Times New Roman"/>
                <a:sym typeface="Times New Roman"/>
              </a:rPr>
              <a:t>: 5400 (20%)</a:t>
            </a:r>
          </a:p>
          <a:p>
            <a:pPr algn="l">
              <a:lnSpc>
                <a:spcPts val="4227"/>
              </a:lnSpc>
              <a:spcBef>
                <a:spcPct val="0"/>
              </a:spcBef>
            </a:pPr>
            <a:r>
              <a:rPr lang="en-US" sz="3019" b="1" dirty="0">
                <a:solidFill>
                  <a:srgbClr val="000000"/>
                </a:solidFill>
                <a:latin typeface="Times New Roman Bold"/>
                <a:ea typeface="Times New Roman Bold"/>
                <a:cs typeface="Times New Roman Bold"/>
                <a:sym typeface="Times New Roman Bold"/>
              </a:rPr>
              <a:t>Models Used</a:t>
            </a:r>
            <a:r>
              <a:rPr lang="en-US" sz="3019" dirty="0">
                <a:solidFill>
                  <a:srgbClr val="000000"/>
                </a:solidFill>
                <a:latin typeface="Times New Roman"/>
                <a:ea typeface="Times New Roman"/>
                <a:cs typeface="Times New Roman"/>
                <a:sym typeface="Times New Roman"/>
              </a:rPr>
              <a:t>: Hybrid CNN-LSTM</a:t>
            </a:r>
          </a:p>
          <a:p>
            <a:pPr algn="l">
              <a:lnSpc>
                <a:spcPts val="4228"/>
              </a:lnSpc>
              <a:spcBef>
                <a:spcPct val="0"/>
              </a:spcBef>
            </a:pPr>
            <a:endParaRPr lang="en-US" sz="3019" dirty="0">
              <a:solidFill>
                <a:srgbClr val="000000"/>
              </a:solidFill>
              <a:latin typeface="Times New Roman"/>
              <a:ea typeface="Times New Roman"/>
              <a:cs typeface="Times New Roman"/>
              <a:sym typeface="Times New Roman"/>
            </a:endParaRPr>
          </a:p>
        </p:txBody>
      </p:sp>
      <p:sp>
        <p:nvSpPr>
          <p:cNvPr id="6" name="TextBox 6"/>
          <p:cNvSpPr txBox="1"/>
          <p:nvPr/>
        </p:nvSpPr>
        <p:spPr>
          <a:xfrm>
            <a:off x="6593194" y="480664"/>
            <a:ext cx="5101612" cy="598862"/>
          </a:xfrm>
          <a:prstGeom prst="rect">
            <a:avLst/>
          </a:prstGeom>
        </p:spPr>
        <p:txBody>
          <a:bodyPr lIns="0" tIns="0" rIns="0" bIns="0" rtlCol="0" anchor="t">
            <a:spAutoFit/>
          </a:bodyPr>
          <a:lstStyle/>
          <a:p>
            <a:pPr algn="ctr">
              <a:lnSpc>
                <a:spcPts val="4786"/>
              </a:lnSpc>
              <a:spcBef>
                <a:spcPct val="0"/>
              </a:spcBef>
            </a:pPr>
            <a:r>
              <a:rPr lang="en-US" sz="3417" b="1" dirty="0">
                <a:solidFill>
                  <a:srgbClr val="004AAD"/>
                </a:solidFill>
                <a:latin typeface="Times New Roman Bold"/>
                <a:ea typeface="Times New Roman Bold"/>
                <a:cs typeface="Times New Roman Bold"/>
                <a:sym typeface="Times New Roman Bold"/>
              </a:rPr>
              <a:t>DATASET DESCRIPTION</a:t>
            </a:r>
          </a:p>
        </p:txBody>
      </p:sp>
      <p:sp>
        <p:nvSpPr>
          <p:cNvPr id="9" name="AutoShape 9"/>
          <p:cNvSpPr/>
          <p:nvPr/>
        </p:nvSpPr>
        <p:spPr>
          <a:xfrm>
            <a:off x="631496" y="9277350"/>
            <a:ext cx="17025008" cy="0"/>
          </a:xfrm>
          <a:prstGeom prst="line">
            <a:avLst/>
          </a:prstGeom>
          <a:ln w="38100" cap="flat">
            <a:solidFill>
              <a:srgbClr val="000000"/>
            </a:solidFill>
            <a:prstDash val="solid"/>
            <a:headEnd type="oval" w="lg" len="lg"/>
            <a:tailEnd type="oval" w="lg" len="lg"/>
          </a:ln>
        </p:spPr>
        <p:txBody>
          <a:bodyPr/>
          <a:lstStyle/>
          <a:p>
            <a:endParaRPr lang="en-IN"/>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7EC322-0F33-48F3-AF1E-EAF54F483A02}"/>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CE1611B0-5619-F5C1-7F0A-9F41224173F0}"/>
              </a:ext>
            </a:extLst>
          </p:cNvPr>
          <p:cNvGrpSpPr/>
          <p:nvPr/>
        </p:nvGrpSpPr>
        <p:grpSpPr>
          <a:xfrm>
            <a:off x="0" y="0"/>
            <a:ext cx="18288000" cy="10287000"/>
            <a:chOff x="0" y="0"/>
            <a:chExt cx="24384000" cy="13716000"/>
          </a:xfrm>
        </p:grpSpPr>
        <p:sp>
          <p:nvSpPr>
            <p:cNvPr id="3" name="Freeform 3">
              <a:extLst>
                <a:ext uri="{FF2B5EF4-FFF2-40B4-BE49-F238E27FC236}">
                  <a16:creationId xmlns:a16="http://schemas.microsoft.com/office/drawing/2014/main" id="{FC6A31B8-31B9-1B4E-A2F2-6A4A021AB8B1}"/>
                </a:ext>
              </a:extLst>
            </p:cNvPr>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a:p>
          </p:txBody>
        </p:sp>
      </p:grpSp>
      <p:sp>
        <p:nvSpPr>
          <p:cNvPr id="6" name="TextBox 6">
            <a:extLst>
              <a:ext uri="{FF2B5EF4-FFF2-40B4-BE49-F238E27FC236}">
                <a16:creationId xmlns:a16="http://schemas.microsoft.com/office/drawing/2014/main" id="{AF83CCF7-F998-9C57-F91B-EBFF2FCFB318}"/>
              </a:ext>
            </a:extLst>
          </p:cNvPr>
          <p:cNvSpPr txBox="1"/>
          <p:nvPr/>
        </p:nvSpPr>
        <p:spPr>
          <a:xfrm>
            <a:off x="6593194" y="480664"/>
            <a:ext cx="5101612" cy="564385"/>
          </a:xfrm>
          <a:prstGeom prst="rect">
            <a:avLst/>
          </a:prstGeom>
        </p:spPr>
        <p:txBody>
          <a:bodyPr lIns="0" tIns="0" rIns="0" bIns="0" rtlCol="0" anchor="t">
            <a:spAutoFit/>
          </a:bodyPr>
          <a:lstStyle/>
          <a:p>
            <a:pPr algn="ctr">
              <a:lnSpc>
                <a:spcPts val="4786"/>
              </a:lnSpc>
              <a:spcBef>
                <a:spcPct val="0"/>
              </a:spcBef>
            </a:pPr>
            <a:r>
              <a:rPr lang="en-US" sz="3417" b="1" dirty="0">
                <a:solidFill>
                  <a:srgbClr val="004AAD"/>
                </a:solidFill>
                <a:latin typeface="Times New Roman Bold"/>
                <a:ea typeface="Times New Roman Bold"/>
                <a:cs typeface="Times New Roman Bold"/>
                <a:sym typeface="Times New Roman Bold"/>
              </a:rPr>
              <a:t>SAMPLE DATASET</a:t>
            </a:r>
          </a:p>
        </p:txBody>
      </p:sp>
      <p:sp>
        <p:nvSpPr>
          <p:cNvPr id="9" name="AutoShape 9">
            <a:extLst>
              <a:ext uri="{FF2B5EF4-FFF2-40B4-BE49-F238E27FC236}">
                <a16:creationId xmlns:a16="http://schemas.microsoft.com/office/drawing/2014/main" id="{88EE573F-EBA1-79B7-8E48-F505CCEE91F1}"/>
              </a:ext>
            </a:extLst>
          </p:cNvPr>
          <p:cNvSpPr/>
          <p:nvPr/>
        </p:nvSpPr>
        <p:spPr>
          <a:xfrm>
            <a:off x="631496" y="9277350"/>
            <a:ext cx="17025008" cy="0"/>
          </a:xfrm>
          <a:prstGeom prst="line">
            <a:avLst/>
          </a:prstGeom>
          <a:ln w="38100" cap="flat">
            <a:solidFill>
              <a:srgbClr val="000000"/>
            </a:solidFill>
            <a:prstDash val="solid"/>
            <a:headEnd type="oval" w="lg" len="lg"/>
            <a:tailEnd type="oval" w="lg" len="lg"/>
          </a:ln>
        </p:spPr>
        <p:txBody>
          <a:bodyPr/>
          <a:lstStyle/>
          <a:p>
            <a:endParaRPr lang="en-IN"/>
          </a:p>
        </p:txBody>
      </p:sp>
      <p:pic>
        <p:nvPicPr>
          <p:cNvPr id="5" name="Picture 4" descr="A screenshot of a computer&#10;&#10;AI-generated content may be incorrect.">
            <a:extLst>
              <a:ext uri="{FF2B5EF4-FFF2-40B4-BE49-F238E27FC236}">
                <a16:creationId xmlns:a16="http://schemas.microsoft.com/office/drawing/2014/main" id="{0E400D99-76E8-5635-65A8-24F41C337539}"/>
              </a:ext>
            </a:extLst>
          </p:cNvPr>
          <p:cNvPicPr>
            <a:picLocks noChangeAspect="1"/>
          </p:cNvPicPr>
          <p:nvPr/>
        </p:nvPicPr>
        <p:blipFill>
          <a:blip r:embed="rId3"/>
          <a:stretch>
            <a:fillRect/>
          </a:stretch>
        </p:blipFill>
        <p:spPr>
          <a:xfrm>
            <a:off x="994061" y="2831122"/>
            <a:ext cx="16299877" cy="4343400"/>
          </a:xfrm>
          <a:prstGeom prst="rect">
            <a:avLst/>
          </a:prstGeom>
        </p:spPr>
      </p:pic>
    </p:spTree>
    <p:extLst>
      <p:ext uri="{BB962C8B-B14F-4D97-AF65-F5344CB8AC3E}">
        <p14:creationId xmlns:p14="http://schemas.microsoft.com/office/powerpoint/2010/main" val="1119720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4290"/>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2"/>
            <a:stretch>
              <a:fillRect/>
            </a:stretch>
          </a:blipFill>
        </p:spPr>
        <p:txBody>
          <a:bodyPr/>
          <a:lstStyle/>
          <a:p>
            <a:endParaRPr lang="en-IN"/>
          </a:p>
        </p:txBody>
      </p:sp>
      <p:sp>
        <p:nvSpPr>
          <p:cNvPr id="5" name="TextBox 5"/>
          <p:cNvSpPr txBox="1"/>
          <p:nvPr/>
        </p:nvSpPr>
        <p:spPr>
          <a:xfrm>
            <a:off x="6511016" y="429838"/>
            <a:ext cx="6671584" cy="564385"/>
          </a:xfrm>
          <a:prstGeom prst="rect">
            <a:avLst/>
          </a:prstGeom>
        </p:spPr>
        <p:txBody>
          <a:bodyPr wrap="square"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PROPOSED METHODOLOGY</a:t>
            </a:r>
          </a:p>
        </p:txBody>
      </p:sp>
      <p:sp>
        <p:nvSpPr>
          <p:cNvPr id="7" name="TextBox 6">
            <a:extLst>
              <a:ext uri="{FF2B5EF4-FFF2-40B4-BE49-F238E27FC236}">
                <a16:creationId xmlns:a16="http://schemas.microsoft.com/office/drawing/2014/main" id="{F6F9BF4D-1E73-21A6-E644-E0BE3ED9FC42}"/>
              </a:ext>
            </a:extLst>
          </p:cNvPr>
          <p:cNvSpPr txBox="1"/>
          <p:nvPr/>
        </p:nvSpPr>
        <p:spPr>
          <a:xfrm>
            <a:off x="1219200" y="1257300"/>
            <a:ext cx="15544800" cy="7848302"/>
          </a:xfrm>
          <a:prstGeom prst="rect">
            <a:avLst/>
          </a:prstGeom>
          <a:noFill/>
        </p:spPr>
        <p:txBody>
          <a:bodyPr wrap="square" rtlCol="0">
            <a:spAutoFit/>
          </a:bodyPr>
          <a:lstStyle/>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Data Acquisition</a:t>
            </a:r>
            <a:r>
              <a:rPr lang="en-IN" sz="3600" dirty="0">
                <a:latin typeface="Times New Roman" panose="02020603050405020304" pitchFamily="18" charset="0"/>
                <a:cs typeface="Times New Roman" panose="02020603050405020304" pitchFamily="18" charset="0"/>
              </a:rPr>
              <a:t>: Ingested raw multimodal PSG signals (EEG, EOG, EMG, Respiratory, Temp) from the dataset to capture comprehensive sleep dynamics.</a:t>
            </a:r>
          </a:p>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Signal Preprocessing</a:t>
            </a:r>
            <a:r>
              <a:rPr lang="en-IN" sz="3600" dirty="0">
                <a:latin typeface="Times New Roman" panose="02020603050405020304" pitchFamily="18" charset="0"/>
                <a:cs typeface="Times New Roman" panose="02020603050405020304" pitchFamily="18" charset="0"/>
              </a:rPr>
              <a:t>: Applied </a:t>
            </a:r>
            <a:r>
              <a:rPr lang="en-IN" sz="3600" b="1" dirty="0">
                <a:latin typeface="Times New Roman" panose="02020603050405020304" pitchFamily="18" charset="0"/>
                <a:cs typeface="Times New Roman" panose="02020603050405020304" pitchFamily="18" charset="0"/>
              </a:rPr>
              <a:t>band-pass filtering </a:t>
            </a:r>
            <a:r>
              <a:rPr lang="en-IN" sz="3600" dirty="0">
                <a:latin typeface="Times New Roman" panose="02020603050405020304" pitchFamily="18" charset="0"/>
                <a:cs typeface="Times New Roman" panose="02020603050405020304" pitchFamily="18" charset="0"/>
              </a:rPr>
              <a:t>(0.3–35 Hz) and </a:t>
            </a:r>
            <a:r>
              <a:rPr lang="en-IN" sz="3600" b="1" dirty="0">
                <a:latin typeface="Times New Roman" panose="02020603050405020304" pitchFamily="18" charset="0"/>
                <a:cs typeface="Times New Roman" panose="02020603050405020304" pitchFamily="18" charset="0"/>
              </a:rPr>
              <a:t>resampling</a:t>
            </a:r>
            <a:r>
              <a:rPr lang="en-IN" sz="3600" dirty="0">
                <a:latin typeface="Times New Roman" panose="02020603050405020304" pitchFamily="18" charset="0"/>
                <a:cs typeface="Times New Roman" panose="02020603050405020304" pitchFamily="18" charset="0"/>
              </a:rPr>
              <a:t> (100 Hz) to remove noise, followed by </a:t>
            </a:r>
            <a:r>
              <a:rPr lang="en-IN" sz="3600" b="1" dirty="0">
                <a:latin typeface="Times New Roman" panose="02020603050405020304" pitchFamily="18" charset="0"/>
                <a:cs typeface="Times New Roman" panose="02020603050405020304" pitchFamily="18" charset="0"/>
              </a:rPr>
              <a:t>Z-score normalization </a:t>
            </a:r>
            <a:r>
              <a:rPr lang="en-IN" sz="3600" dirty="0">
                <a:latin typeface="Times New Roman" panose="02020603050405020304" pitchFamily="18" charset="0"/>
                <a:cs typeface="Times New Roman" panose="02020603050405020304" pitchFamily="18" charset="0"/>
              </a:rPr>
              <a:t>for model stability.</a:t>
            </a:r>
          </a:p>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Segmentation</a:t>
            </a:r>
            <a:r>
              <a:rPr lang="en-IN" sz="3600" dirty="0">
                <a:latin typeface="Times New Roman" panose="02020603050405020304" pitchFamily="18" charset="0"/>
                <a:cs typeface="Times New Roman" panose="02020603050405020304" pitchFamily="18" charset="0"/>
              </a:rPr>
              <a:t>: Sliced continuous time-series data into standard 30-second non-overlapping </a:t>
            </a:r>
            <a:r>
              <a:rPr lang="en-IN" sz="3600" b="1" dirty="0">
                <a:latin typeface="Times New Roman" panose="02020603050405020304" pitchFamily="18" charset="0"/>
                <a:cs typeface="Times New Roman" panose="02020603050405020304" pitchFamily="18" charset="0"/>
              </a:rPr>
              <a:t>epochs</a:t>
            </a:r>
            <a:r>
              <a:rPr lang="en-IN" sz="3600" dirty="0">
                <a:latin typeface="Times New Roman" panose="02020603050405020304" pitchFamily="18" charset="0"/>
                <a:cs typeface="Times New Roman" panose="02020603050405020304" pitchFamily="18" charset="0"/>
              </a:rPr>
              <a:t>, aligning with AASM clinical scoring guidelines.</a:t>
            </a:r>
          </a:p>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Feature</a:t>
            </a:r>
            <a:r>
              <a:rPr lang="en-IN"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Strategy</a:t>
            </a:r>
            <a:r>
              <a:rPr lang="en-IN" sz="3600" dirty="0">
                <a:latin typeface="Times New Roman" panose="02020603050405020304" pitchFamily="18" charset="0"/>
                <a:cs typeface="Times New Roman" panose="02020603050405020304" pitchFamily="18" charset="0"/>
              </a:rPr>
              <a:t>: Utilized 1D-CNN layers for </a:t>
            </a:r>
            <a:r>
              <a:rPr lang="en-IN" sz="3600" b="1" dirty="0">
                <a:latin typeface="Times New Roman" panose="02020603050405020304" pitchFamily="18" charset="0"/>
                <a:cs typeface="Times New Roman" panose="02020603050405020304" pitchFamily="18" charset="0"/>
              </a:rPr>
              <a:t>automated</a:t>
            </a:r>
            <a:r>
              <a:rPr lang="en-IN"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spatial</a:t>
            </a:r>
            <a:r>
              <a:rPr lang="en-IN" sz="3600" dirty="0">
                <a:latin typeface="Times New Roman" panose="02020603050405020304" pitchFamily="18" charset="0"/>
                <a:cs typeface="Times New Roman" panose="02020603050405020304" pitchFamily="18" charset="0"/>
              </a:rPr>
              <a:t> </a:t>
            </a:r>
            <a:r>
              <a:rPr lang="en-IN" sz="3600" b="1" dirty="0">
                <a:latin typeface="Times New Roman" panose="02020603050405020304" pitchFamily="18" charset="0"/>
                <a:cs typeface="Times New Roman" panose="02020603050405020304" pitchFamily="18" charset="0"/>
              </a:rPr>
              <a:t>feature</a:t>
            </a:r>
            <a:r>
              <a:rPr lang="en-IN" sz="3600" dirty="0">
                <a:latin typeface="Times New Roman" panose="02020603050405020304" pitchFamily="18" charset="0"/>
                <a:cs typeface="Times New Roman" panose="02020603050405020304" pitchFamily="18" charset="0"/>
              </a:rPr>
              <a:t> learning and extracted Spectral Power Density for statistical validation.</a:t>
            </a:r>
          </a:p>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Hybrid</a:t>
            </a:r>
            <a:r>
              <a:rPr lang="en-IN" sz="3600" dirty="0">
                <a:latin typeface="Times New Roman" panose="02020603050405020304" pitchFamily="18" charset="0"/>
                <a:cs typeface="Times New Roman" panose="02020603050405020304" pitchFamily="18" charset="0"/>
              </a:rPr>
              <a:t> </a:t>
            </a:r>
            <a:r>
              <a:rPr lang="en-IN" sz="3600" b="1" dirty="0" err="1">
                <a:latin typeface="Times New Roman" panose="02020603050405020304" pitchFamily="18" charset="0"/>
                <a:cs typeface="Times New Roman" panose="02020603050405020304" pitchFamily="18" charset="0"/>
              </a:rPr>
              <a:t>Modeling</a:t>
            </a:r>
            <a:r>
              <a:rPr lang="en-IN" sz="3600" dirty="0">
                <a:latin typeface="Times New Roman" panose="02020603050405020304" pitchFamily="18" charset="0"/>
                <a:cs typeface="Times New Roman" panose="02020603050405020304" pitchFamily="18" charset="0"/>
              </a:rPr>
              <a:t>: Trained a </a:t>
            </a:r>
            <a:r>
              <a:rPr lang="en-IN" sz="3600" b="1" dirty="0">
                <a:latin typeface="Times New Roman" panose="02020603050405020304" pitchFamily="18" charset="0"/>
                <a:cs typeface="Times New Roman" panose="02020603050405020304" pitchFamily="18" charset="0"/>
              </a:rPr>
              <a:t>CNN-LSTM</a:t>
            </a:r>
            <a:r>
              <a:rPr lang="en-IN" sz="3600" dirty="0">
                <a:latin typeface="Times New Roman" panose="02020603050405020304" pitchFamily="18" charset="0"/>
                <a:cs typeface="Times New Roman" panose="02020603050405020304" pitchFamily="18" charset="0"/>
              </a:rPr>
              <a:t> network to simultaneously extract local waveform patterns and learn long-term temporal sequence dependencies.</a:t>
            </a:r>
          </a:p>
          <a:p>
            <a:pPr marL="571500" indent="-571500">
              <a:buFont typeface="Arial" panose="020B0604020202020204" pitchFamily="34" charset="0"/>
              <a:buChar char="•"/>
            </a:pPr>
            <a:r>
              <a:rPr lang="en-IN" sz="3600" b="1" dirty="0">
                <a:latin typeface="Times New Roman" panose="02020603050405020304" pitchFamily="18" charset="0"/>
                <a:cs typeface="Times New Roman" panose="02020603050405020304" pitchFamily="18" charset="0"/>
              </a:rPr>
              <a:t>Analytics &amp; Visualization</a:t>
            </a:r>
            <a:r>
              <a:rPr lang="en-IN" sz="3600" dirty="0">
                <a:latin typeface="Times New Roman" panose="02020603050405020304" pitchFamily="18" charset="0"/>
                <a:cs typeface="Times New Roman" panose="02020603050405020304" pitchFamily="18" charset="0"/>
              </a:rPr>
              <a:t>: Validated feature significance via </a:t>
            </a:r>
            <a:r>
              <a:rPr lang="en-IN" sz="3600" b="1" dirty="0">
                <a:latin typeface="Times New Roman" panose="02020603050405020304" pitchFamily="18" charset="0"/>
                <a:cs typeface="Times New Roman" panose="02020603050405020304" pitchFamily="18" charset="0"/>
              </a:rPr>
              <a:t>statistical testing </a:t>
            </a:r>
            <a:r>
              <a:rPr lang="en-IN" sz="3600" dirty="0">
                <a:latin typeface="Times New Roman" panose="02020603050405020304" pitchFamily="18" charset="0"/>
                <a:cs typeface="Times New Roman" panose="02020603050405020304" pitchFamily="18" charset="0"/>
              </a:rPr>
              <a:t>and deployed an interactive </a:t>
            </a:r>
            <a:r>
              <a:rPr lang="en-IN" sz="3600" b="1" dirty="0">
                <a:latin typeface="Times New Roman" panose="02020603050405020304" pitchFamily="18" charset="0"/>
                <a:cs typeface="Times New Roman" panose="02020603050405020304" pitchFamily="18" charset="0"/>
              </a:rPr>
              <a:t>Power BI Dashboard </a:t>
            </a:r>
            <a:r>
              <a:rPr lang="en-IN" sz="3600" dirty="0">
                <a:latin typeface="Times New Roman" panose="02020603050405020304" pitchFamily="18" charset="0"/>
                <a:cs typeface="Times New Roman" panose="02020603050405020304" pitchFamily="18" charset="0"/>
              </a:rPr>
              <a:t>for interpretable sleep architecture analysis.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30278" y="447268"/>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3"/>
            <a:stretch>
              <a:fillRect/>
            </a:stretch>
          </a:blipFill>
        </p:spPr>
        <p:txBody>
          <a:bodyPr/>
          <a:lstStyle/>
          <a:p>
            <a:endParaRPr lang="en-IN"/>
          </a:p>
        </p:txBody>
      </p:sp>
      <p:grpSp>
        <p:nvGrpSpPr>
          <p:cNvPr id="4" name="Group 4"/>
          <p:cNvGrpSpPr/>
          <p:nvPr/>
        </p:nvGrpSpPr>
        <p:grpSpPr>
          <a:xfrm>
            <a:off x="10848352" y="1751563"/>
            <a:ext cx="6793452" cy="7712701"/>
            <a:chOff x="0" y="0"/>
            <a:chExt cx="1789222" cy="2031329"/>
          </a:xfrm>
        </p:grpSpPr>
        <p:sp>
          <p:nvSpPr>
            <p:cNvPr id="5" name="Freeform 5"/>
            <p:cNvSpPr/>
            <p:nvPr/>
          </p:nvSpPr>
          <p:spPr>
            <a:xfrm>
              <a:off x="0" y="0"/>
              <a:ext cx="1789222" cy="2031329"/>
            </a:xfrm>
            <a:custGeom>
              <a:avLst/>
              <a:gdLst/>
              <a:ahLst/>
              <a:cxnLst/>
              <a:rect l="l" t="t" r="r" b="b"/>
              <a:pathLst>
                <a:path w="1789222" h="2031329">
                  <a:moveTo>
                    <a:pt x="58120" y="0"/>
                  </a:moveTo>
                  <a:lnTo>
                    <a:pt x="1731102" y="0"/>
                  </a:lnTo>
                  <a:cubicBezTo>
                    <a:pt x="1746516" y="0"/>
                    <a:pt x="1761299" y="6123"/>
                    <a:pt x="1772199" y="17023"/>
                  </a:cubicBezTo>
                  <a:cubicBezTo>
                    <a:pt x="1783099" y="27923"/>
                    <a:pt x="1789222" y="42706"/>
                    <a:pt x="1789222" y="58120"/>
                  </a:cubicBezTo>
                  <a:lnTo>
                    <a:pt x="1789222" y="1973208"/>
                  </a:lnTo>
                  <a:cubicBezTo>
                    <a:pt x="1789222" y="1988623"/>
                    <a:pt x="1783099" y="2003406"/>
                    <a:pt x="1772199" y="2014306"/>
                  </a:cubicBezTo>
                  <a:cubicBezTo>
                    <a:pt x="1761299" y="2025205"/>
                    <a:pt x="1746516" y="2031329"/>
                    <a:pt x="1731102" y="2031329"/>
                  </a:cubicBezTo>
                  <a:lnTo>
                    <a:pt x="58120" y="2031329"/>
                  </a:lnTo>
                  <a:cubicBezTo>
                    <a:pt x="42706" y="2031329"/>
                    <a:pt x="27923" y="2025205"/>
                    <a:pt x="17023" y="2014306"/>
                  </a:cubicBezTo>
                  <a:cubicBezTo>
                    <a:pt x="6123" y="2003406"/>
                    <a:pt x="0" y="1988623"/>
                    <a:pt x="0" y="1973208"/>
                  </a:cubicBezTo>
                  <a:lnTo>
                    <a:pt x="0" y="58120"/>
                  </a:lnTo>
                  <a:cubicBezTo>
                    <a:pt x="0" y="42706"/>
                    <a:pt x="6123" y="27923"/>
                    <a:pt x="17023" y="17023"/>
                  </a:cubicBezTo>
                  <a:cubicBezTo>
                    <a:pt x="27923" y="6123"/>
                    <a:pt x="42706" y="0"/>
                    <a:pt x="58120" y="0"/>
                  </a:cubicBezTo>
                  <a:close/>
                </a:path>
              </a:pathLst>
            </a:custGeom>
            <a:solidFill>
              <a:srgbClr val="000000"/>
            </a:solidFill>
          </p:spPr>
          <p:txBody>
            <a:bodyPr/>
            <a:lstStyle/>
            <a:p>
              <a:endParaRPr lang="en-IN"/>
            </a:p>
          </p:txBody>
        </p:sp>
        <p:sp>
          <p:nvSpPr>
            <p:cNvPr id="6" name="TextBox 6"/>
            <p:cNvSpPr txBox="1"/>
            <p:nvPr/>
          </p:nvSpPr>
          <p:spPr>
            <a:xfrm>
              <a:off x="0" y="-38100"/>
              <a:ext cx="1789222" cy="206942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p:cNvGrpSpPr/>
          <p:nvPr/>
        </p:nvGrpSpPr>
        <p:grpSpPr>
          <a:xfrm>
            <a:off x="10848352" y="1751563"/>
            <a:ext cx="6587488" cy="7506737"/>
            <a:chOff x="0" y="0"/>
            <a:chExt cx="1734976" cy="1977083"/>
          </a:xfrm>
        </p:grpSpPr>
        <p:sp>
          <p:nvSpPr>
            <p:cNvPr id="8" name="Freeform 8"/>
            <p:cNvSpPr/>
            <p:nvPr/>
          </p:nvSpPr>
          <p:spPr>
            <a:xfrm>
              <a:off x="0" y="0"/>
              <a:ext cx="1734976" cy="1977083"/>
            </a:xfrm>
            <a:custGeom>
              <a:avLst/>
              <a:gdLst/>
              <a:ahLst/>
              <a:cxnLst/>
              <a:rect l="l" t="t" r="r" b="b"/>
              <a:pathLst>
                <a:path w="1734976" h="1977083">
                  <a:moveTo>
                    <a:pt x="59938" y="0"/>
                  </a:moveTo>
                  <a:lnTo>
                    <a:pt x="1675039" y="0"/>
                  </a:lnTo>
                  <a:cubicBezTo>
                    <a:pt x="1690935" y="0"/>
                    <a:pt x="1706181" y="6315"/>
                    <a:pt x="1717421" y="17555"/>
                  </a:cubicBezTo>
                  <a:cubicBezTo>
                    <a:pt x="1728661" y="28796"/>
                    <a:pt x="1734976" y="44041"/>
                    <a:pt x="1734976" y="59938"/>
                  </a:cubicBezTo>
                  <a:lnTo>
                    <a:pt x="1734976" y="1917145"/>
                  </a:lnTo>
                  <a:cubicBezTo>
                    <a:pt x="1734976" y="1933042"/>
                    <a:pt x="1728661" y="1948287"/>
                    <a:pt x="1717421" y="1959528"/>
                  </a:cubicBezTo>
                  <a:cubicBezTo>
                    <a:pt x="1706181" y="1970768"/>
                    <a:pt x="1690935" y="1977083"/>
                    <a:pt x="1675039" y="1977083"/>
                  </a:cubicBezTo>
                  <a:lnTo>
                    <a:pt x="59938" y="1977083"/>
                  </a:lnTo>
                  <a:cubicBezTo>
                    <a:pt x="26835" y="1977083"/>
                    <a:pt x="0" y="1950248"/>
                    <a:pt x="0" y="1917145"/>
                  </a:cubicBezTo>
                  <a:lnTo>
                    <a:pt x="0" y="59938"/>
                  </a:lnTo>
                  <a:cubicBezTo>
                    <a:pt x="0" y="44041"/>
                    <a:pt x="6315" y="28796"/>
                    <a:pt x="17555" y="17555"/>
                  </a:cubicBezTo>
                  <a:cubicBezTo>
                    <a:pt x="28796" y="6315"/>
                    <a:pt x="44041" y="0"/>
                    <a:pt x="59938" y="0"/>
                  </a:cubicBezTo>
                  <a:close/>
                </a:path>
              </a:pathLst>
            </a:custGeom>
            <a:solidFill>
              <a:srgbClr val="FFFFFF"/>
            </a:solidFill>
            <a:ln w="38100" cap="rnd">
              <a:solidFill>
                <a:srgbClr val="000000"/>
              </a:solidFill>
              <a:prstDash val="solid"/>
              <a:round/>
            </a:ln>
          </p:spPr>
          <p:txBody>
            <a:bodyPr/>
            <a:lstStyle/>
            <a:p>
              <a:endParaRPr lang="en-IN"/>
            </a:p>
          </p:txBody>
        </p:sp>
        <p:sp>
          <p:nvSpPr>
            <p:cNvPr id="9" name="TextBox 9"/>
            <p:cNvSpPr txBox="1"/>
            <p:nvPr/>
          </p:nvSpPr>
          <p:spPr>
            <a:xfrm>
              <a:off x="0" y="-38100"/>
              <a:ext cx="1734976" cy="2015183"/>
            </a:xfrm>
            <a:prstGeom prst="rect">
              <a:avLst/>
            </a:prstGeom>
          </p:spPr>
          <p:txBody>
            <a:bodyPr lIns="50800" tIns="50800" rIns="50800" bIns="50800" rtlCol="0" anchor="ctr"/>
            <a:lstStyle/>
            <a:p>
              <a:pPr algn="ctr">
                <a:lnSpc>
                  <a:spcPts val="2659"/>
                </a:lnSpc>
              </a:pPr>
              <a:endParaRPr/>
            </a:p>
          </p:txBody>
        </p:sp>
      </p:grpSp>
      <p:sp>
        <p:nvSpPr>
          <p:cNvPr id="10" name="TextBox 10"/>
          <p:cNvSpPr txBox="1"/>
          <p:nvPr/>
        </p:nvSpPr>
        <p:spPr>
          <a:xfrm>
            <a:off x="4986745" y="429838"/>
            <a:ext cx="8253954" cy="598862"/>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EXPLORATORY DATA ANALYSIS –  EDA</a:t>
            </a:r>
          </a:p>
        </p:txBody>
      </p:sp>
      <p:sp>
        <p:nvSpPr>
          <p:cNvPr id="11" name="TextBox 11"/>
          <p:cNvSpPr txBox="1"/>
          <p:nvPr/>
        </p:nvSpPr>
        <p:spPr>
          <a:xfrm>
            <a:off x="816991" y="1336948"/>
            <a:ext cx="4126815" cy="1179938"/>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Sleep Architecture and Class Imbalance</a:t>
            </a:r>
          </a:p>
        </p:txBody>
      </p:sp>
      <p:sp>
        <p:nvSpPr>
          <p:cNvPr id="12" name="TextBox 12"/>
          <p:cNvSpPr txBox="1"/>
          <p:nvPr/>
        </p:nvSpPr>
        <p:spPr>
          <a:xfrm>
            <a:off x="12468546" y="1875388"/>
            <a:ext cx="2472171"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Key Insights:</a:t>
            </a:r>
          </a:p>
        </p:txBody>
      </p:sp>
      <p:sp>
        <p:nvSpPr>
          <p:cNvPr id="13" name="TextBox 13"/>
          <p:cNvSpPr txBox="1"/>
          <p:nvPr/>
        </p:nvSpPr>
        <p:spPr>
          <a:xfrm>
            <a:off x="10848352" y="2583686"/>
            <a:ext cx="6410948" cy="447174"/>
          </a:xfrm>
          <a:prstGeom prst="rect">
            <a:avLst/>
          </a:prstGeom>
        </p:spPr>
        <p:txBody>
          <a:bodyPr lIns="0" tIns="0" rIns="0" bIns="0" rtlCol="0" anchor="t">
            <a:spAutoFit/>
          </a:bodyPr>
          <a:lstStyle/>
          <a:p>
            <a:pPr marL="586816" lvl="1" indent="-293408" algn="just">
              <a:lnSpc>
                <a:spcPts val="3805"/>
              </a:lnSpc>
              <a:spcBef>
                <a:spcPct val="0"/>
              </a:spcBef>
              <a:buFont typeface="Arial"/>
              <a:buChar char="•"/>
            </a:pPr>
            <a:endParaRPr lang="en-US" sz="2718" dirty="0">
              <a:solidFill>
                <a:srgbClr val="000000"/>
              </a:solidFill>
              <a:latin typeface="Times New Roman"/>
              <a:ea typeface="Times New Roman"/>
              <a:cs typeface="Times New Roman"/>
              <a:sym typeface="Times New Roman"/>
            </a:endParaRPr>
          </a:p>
        </p:txBody>
      </p:sp>
      <p:sp>
        <p:nvSpPr>
          <p:cNvPr id="19" name="TextBox 18">
            <a:extLst>
              <a:ext uri="{FF2B5EF4-FFF2-40B4-BE49-F238E27FC236}">
                <a16:creationId xmlns:a16="http://schemas.microsoft.com/office/drawing/2014/main" id="{50BF3DA0-0DC0-B3B4-3677-C2E2E56D7483}"/>
              </a:ext>
            </a:extLst>
          </p:cNvPr>
          <p:cNvSpPr txBox="1"/>
          <p:nvPr/>
        </p:nvSpPr>
        <p:spPr>
          <a:xfrm>
            <a:off x="11125200" y="2889610"/>
            <a:ext cx="5791200" cy="5262979"/>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Dominant Stages</a:t>
            </a:r>
            <a:r>
              <a:rPr lang="en-US" sz="2800" dirty="0">
                <a:latin typeface="Times New Roman" panose="02020603050405020304" pitchFamily="18" charset="0"/>
                <a:cs typeface="Times New Roman" panose="02020603050405020304" pitchFamily="18" charset="0"/>
              </a:rPr>
              <a:t>: Wake (W) and N2 are the most frequent stages, representing the bulk of the dataset.</a:t>
            </a:r>
          </a:p>
          <a:p>
            <a:endParaRPr lang="en-US" sz="2800" dirty="0">
              <a:latin typeface="Times New Roman" panose="02020603050405020304" pitchFamily="18" charset="0"/>
              <a:cs typeface="Times New Roman" panose="02020603050405020304" pitchFamily="18" charset="0"/>
            </a:endParaRPr>
          </a:p>
          <a:p>
            <a:r>
              <a:rPr lang="en-US" sz="2800" b="1" dirty="0">
                <a:latin typeface="Times New Roman" panose="02020603050405020304" pitchFamily="18" charset="0"/>
                <a:cs typeface="Times New Roman" panose="02020603050405020304" pitchFamily="18" charset="0"/>
              </a:rPr>
              <a:t>Underrepresented Stages</a:t>
            </a:r>
            <a:r>
              <a:rPr lang="en-US" sz="2800" dirty="0">
                <a:latin typeface="Times New Roman" panose="02020603050405020304" pitchFamily="18" charset="0"/>
                <a:cs typeface="Times New Roman" panose="02020603050405020304" pitchFamily="18" charset="0"/>
              </a:rPr>
              <a:t>: N1 (transitional) and N3 (deep sleep) have fewer epochs.</a:t>
            </a:r>
          </a:p>
          <a:p>
            <a:endParaRPr lang="en-US"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This imbalance necessitates the use of class-weighted learning in the model to prevent bias toward the majority classes.</a:t>
            </a:r>
            <a:endParaRPr lang="en-IN" sz="2800" dirty="0">
              <a:latin typeface="Times New Roman" panose="02020603050405020304" pitchFamily="18" charset="0"/>
              <a:cs typeface="Times New Roman" panose="02020603050405020304" pitchFamily="18" charset="0"/>
            </a:endParaRPr>
          </a:p>
        </p:txBody>
      </p:sp>
      <p:pic>
        <p:nvPicPr>
          <p:cNvPr id="23" name="Picture 22">
            <a:extLst>
              <a:ext uri="{FF2B5EF4-FFF2-40B4-BE49-F238E27FC236}">
                <a16:creationId xmlns:a16="http://schemas.microsoft.com/office/drawing/2014/main" id="{C3B4FB12-0082-E771-1184-2DEB33110114}"/>
              </a:ext>
            </a:extLst>
          </p:cNvPr>
          <p:cNvPicPr>
            <a:picLocks noChangeAspect="1"/>
          </p:cNvPicPr>
          <p:nvPr/>
        </p:nvPicPr>
        <p:blipFill>
          <a:blip r:embed="rId4"/>
          <a:stretch>
            <a:fillRect/>
          </a:stretch>
        </p:blipFill>
        <p:spPr>
          <a:xfrm>
            <a:off x="457200" y="3231056"/>
            <a:ext cx="9643028" cy="5335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E58E8-1282-A86A-75DB-C3FD6E4F9A2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BF4AE0A3-96E2-E2C8-1B2D-4CB62F27BB1C}"/>
              </a:ext>
            </a:extLst>
          </p:cNvPr>
          <p:cNvSpPr/>
          <p:nvPr/>
        </p:nvSpPr>
        <p:spPr>
          <a:xfrm>
            <a:off x="136756" y="537210"/>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2"/>
            <a:stretch>
              <a:fillRect/>
            </a:stretch>
          </a:blipFill>
        </p:spPr>
        <p:txBody>
          <a:bodyPr/>
          <a:lstStyle/>
          <a:p>
            <a:endParaRPr lang="en-IN"/>
          </a:p>
        </p:txBody>
      </p:sp>
      <p:grpSp>
        <p:nvGrpSpPr>
          <p:cNvPr id="4" name="Group 4">
            <a:extLst>
              <a:ext uri="{FF2B5EF4-FFF2-40B4-BE49-F238E27FC236}">
                <a16:creationId xmlns:a16="http://schemas.microsoft.com/office/drawing/2014/main" id="{ECAC9E09-1C23-5337-FDC6-A312304040E2}"/>
              </a:ext>
            </a:extLst>
          </p:cNvPr>
          <p:cNvGrpSpPr/>
          <p:nvPr/>
        </p:nvGrpSpPr>
        <p:grpSpPr>
          <a:xfrm>
            <a:off x="10848352" y="1751563"/>
            <a:ext cx="6793452" cy="7712701"/>
            <a:chOff x="0" y="0"/>
            <a:chExt cx="1789222" cy="2031329"/>
          </a:xfrm>
        </p:grpSpPr>
        <p:sp>
          <p:nvSpPr>
            <p:cNvPr id="5" name="Freeform 5">
              <a:extLst>
                <a:ext uri="{FF2B5EF4-FFF2-40B4-BE49-F238E27FC236}">
                  <a16:creationId xmlns:a16="http://schemas.microsoft.com/office/drawing/2014/main" id="{8F0B4601-1DC5-986B-6109-EDC4BE647AEA}"/>
                </a:ext>
              </a:extLst>
            </p:cNvPr>
            <p:cNvSpPr/>
            <p:nvPr/>
          </p:nvSpPr>
          <p:spPr>
            <a:xfrm>
              <a:off x="0" y="0"/>
              <a:ext cx="1789222" cy="2031329"/>
            </a:xfrm>
            <a:custGeom>
              <a:avLst/>
              <a:gdLst/>
              <a:ahLst/>
              <a:cxnLst/>
              <a:rect l="l" t="t" r="r" b="b"/>
              <a:pathLst>
                <a:path w="1789222" h="2031329">
                  <a:moveTo>
                    <a:pt x="58120" y="0"/>
                  </a:moveTo>
                  <a:lnTo>
                    <a:pt x="1731102" y="0"/>
                  </a:lnTo>
                  <a:cubicBezTo>
                    <a:pt x="1746516" y="0"/>
                    <a:pt x="1761299" y="6123"/>
                    <a:pt x="1772199" y="17023"/>
                  </a:cubicBezTo>
                  <a:cubicBezTo>
                    <a:pt x="1783099" y="27923"/>
                    <a:pt x="1789222" y="42706"/>
                    <a:pt x="1789222" y="58120"/>
                  </a:cubicBezTo>
                  <a:lnTo>
                    <a:pt x="1789222" y="1973208"/>
                  </a:lnTo>
                  <a:cubicBezTo>
                    <a:pt x="1789222" y="1988623"/>
                    <a:pt x="1783099" y="2003406"/>
                    <a:pt x="1772199" y="2014306"/>
                  </a:cubicBezTo>
                  <a:cubicBezTo>
                    <a:pt x="1761299" y="2025205"/>
                    <a:pt x="1746516" y="2031329"/>
                    <a:pt x="1731102" y="2031329"/>
                  </a:cubicBezTo>
                  <a:lnTo>
                    <a:pt x="58120" y="2031329"/>
                  </a:lnTo>
                  <a:cubicBezTo>
                    <a:pt x="42706" y="2031329"/>
                    <a:pt x="27923" y="2025205"/>
                    <a:pt x="17023" y="2014306"/>
                  </a:cubicBezTo>
                  <a:cubicBezTo>
                    <a:pt x="6123" y="2003406"/>
                    <a:pt x="0" y="1988623"/>
                    <a:pt x="0" y="1973208"/>
                  </a:cubicBezTo>
                  <a:lnTo>
                    <a:pt x="0" y="58120"/>
                  </a:lnTo>
                  <a:cubicBezTo>
                    <a:pt x="0" y="42706"/>
                    <a:pt x="6123" y="27923"/>
                    <a:pt x="17023" y="17023"/>
                  </a:cubicBezTo>
                  <a:cubicBezTo>
                    <a:pt x="27923" y="6123"/>
                    <a:pt x="42706" y="0"/>
                    <a:pt x="58120" y="0"/>
                  </a:cubicBezTo>
                  <a:close/>
                </a:path>
              </a:pathLst>
            </a:custGeom>
            <a:solidFill>
              <a:srgbClr val="000000"/>
            </a:solidFill>
          </p:spPr>
          <p:txBody>
            <a:bodyPr/>
            <a:lstStyle/>
            <a:p>
              <a:endParaRPr lang="en-IN"/>
            </a:p>
          </p:txBody>
        </p:sp>
        <p:sp>
          <p:nvSpPr>
            <p:cNvPr id="6" name="TextBox 6">
              <a:extLst>
                <a:ext uri="{FF2B5EF4-FFF2-40B4-BE49-F238E27FC236}">
                  <a16:creationId xmlns:a16="http://schemas.microsoft.com/office/drawing/2014/main" id="{D5735561-AFB4-A15B-DBC7-8B3DB3A76F03}"/>
                </a:ext>
              </a:extLst>
            </p:cNvPr>
            <p:cNvSpPr txBox="1"/>
            <p:nvPr/>
          </p:nvSpPr>
          <p:spPr>
            <a:xfrm>
              <a:off x="0" y="-38100"/>
              <a:ext cx="1789222" cy="206942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a:extLst>
              <a:ext uri="{FF2B5EF4-FFF2-40B4-BE49-F238E27FC236}">
                <a16:creationId xmlns:a16="http://schemas.microsoft.com/office/drawing/2014/main" id="{DE1CB0A2-99AC-AC38-2B86-15A695F118DB}"/>
              </a:ext>
            </a:extLst>
          </p:cNvPr>
          <p:cNvGrpSpPr/>
          <p:nvPr/>
        </p:nvGrpSpPr>
        <p:grpSpPr>
          <a:xfrm>
            <a:off x="10848352" y="1751563"/>
            <a:ext cx="6587488" cy="7506737"/>
            <a:chOff x="0" y="0"/>
            <a:chExt cx="1734976" cy="1977083"/>
          </a:xfrm>
        </p:grpSpPr>
        <p:sp>
          <p:nvSpPr>
            <p:cNvPr id="8" name="Freeform 8">
              <a:extLst>
                <a:ext uri="{FF2B5EF4-FFF2-40B4-BE49-F238E27FC236}">
                  <a16:creationId xmlns:a16="http://schemas.microsoft.com/office/drawing/2014/main" id="{71304E7E-3A79-C109-552F-7DB7CDB69204}"/>
                </a:ext>
              </a:extLst>
            </p:cNvPr>
            <p:cNvSpPr/>
            <p:nvPr/>
          </p:nvSpPr>
          <p:spPr>
            <a:xfrm>
              <a:off x="0" y="0"/>
              <a:ext cx="1734976" cy="1977083"/>
            </a:xfrm>
            <a:custGeom>
              <a:avLst/>
              <a:gdLst/>
              <a:ahLst/>
              <a:cxnLst/>
              <a:rect l="l" t="t" r="r" b="b"/>
              <a:pathLst>
                <a:path w="1734976" h="1977083">
                  <a:moveTo>
                    <a:pt x="59938" y="0"/>
                  </a:moveTo>
                  <a:lnTo>
                    <a:pt x="1675039" y="0"/>
                  </a:lnTo>
                  <a:cubicBezTo>
                    <a:pt x="1690935" y="0"/>
                    <a:pt x="1706181" y="6315"/>
                    <a:pt x="1717421" y="17555"/>
                  </a:cubicBezTo>
                  <a:cubicBezTo>
                    <a:pt x="1728661" y="28796"/>
                    <a:pt x="1734976" y="44041"/>
                    <a:pt x="1734976" y="59938"/>
                  </a:cubicBezTo>
                  <a:lnTo>
                    <a:pt x="1734976" y="1917145"/>
                  </a:lnTo>
                  <a:cubicBezTo>
                    <a:pt x="1734976" y="1933042"/>
                    <a:pt x="1728661" y="1948287"/>
                    <a:pt x="1717421" y="1959528"/>
                  </a:cubicBezTo>
                  <a:cubicBezTo>
                    <a:pt x="1706181" y="1970768"/>
                    <a:pt x="1690935" y="1977083"/>
                    <a:pt x="1675039" y="1977083"/>
                  </a:cubicBezTo>
                  <a:lnTo>
                    <a:pt x="59938" y="1977083"/>
                  </a:lnTo>
                  <a:cubicBezTo>
                    <a:pt x="26835" y="1977083"/>
                    <a:pt x="0" y="1950248"/>
                    <a:pt x="0" y="1917145"/>
                  </a:cubicBezTo>
                  <a:lnTo>
                    <a:pt x="0" y="59938"/>
                  </a:lnTo>
                  <a:cubicBezTo>
                    <a:pt x="0" y="44041"/>
                    <a:pt x="6315" y="28796"/>
                    <a:pt x="17555" y="17555"/>
                  </a:cubicBezTo>
                  <a:cubicBezTo>
                    <a:pt x="28796" y="6315"/>
                    <a:pt x="44041" y="0"/>
                    <a:pt x="59938" y="0"/>
                  </a:cubicBezTo>
                  <a:close/>
                </a:path>
              </a:pathLst>
            </a:custGeom>
            <a:solidFill>
              <a:srgbClr val="FFFFFF"/>
            </a:solidFill>
            <a:ln w="38100" cap="rnd">
              <a:solidFill>
                <a:srgbClr val="000000"/>
              </a:solidFill>
              <a:prstDash val="solid"/>
              <a:round/>
            </a:ln>
          </p:spPr>
          <p:txBody>
            <a:bodyPr/>
            <a:lstStyle/>
            <a:p>
              <a:endParaRPr lang="en-IN"/>
            </a:p>
          </p:txBody>
        </p:sp>
        <p:sp>
          <p:nvSpPr>
            <p:cNvPr id="9" name="TextBox 9">
              <a:extLst>
                <a:ext uri="{FF2B5EF4-FFF2-40B4-BE49-F238E27FC236}">
                  <a16:creationId xmlns:a16="http://schemas.microsoft.com/office/drawing/2014/main" id="{7C8386CB-BBC8-681D-3D06-73AC5FCEEBA2}"/>
                </a:ext>
              </a:extLst>
            </p:cNvPr>
            <p:cNvSpPr txBox="1"/>
            <p:nvPr/>
          </p:nvSpPr>
          <p:spPr>
            <a:xfrm>
              <a:off x="0" y="-38100"/>
              <a:ext cx="1734976" cy="201518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15A13D6F-6D65-7447-C1EB-021B46624C6F}"/>
              </a:ext>
            </a:extLst>
          </p:cNvPr>
          <p:cNvSpPr txBox="1"/>
          <p:nvPr/>
        </p:nvSpPr>
        <p:spPr>
          <a:xfrm>
            <a:off x="4986745" y="429838"/>
            <a:ext cx="8253954" cy="598862"/>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EXPLORATORY DATA ANALYSIS –  EDA</a:t>
            </a:r>
          </a:p>
        </p:txBody>
      </p:sp>
      <p:sp>
        <p:nvSpPr>
          <p:cNvPr id="12" name="TextBox 12">
            <a:extLst>
              <a:ext uri="{FF2B5EF4-FFF2-40B4-BE49-F238E27FC236}">
                <a16:creationId xmlns:a16="http://schemas.microsoft.com/office/drawing/2014/main" id="{F348BB81-9820-A5B7-2111-E09F574032D7}"/>
              </a:ext>
            </a:extLst>
          </p:cNvPr>
          <p:cNvSpPr txBox="1"/>
          <p:nvPr/>
        </p:nvSpPr>
        <p:spPr>
          <a:xfrm>
            <a:off x="12468546" y="1875388"/>
            <a:ext cx="2472171"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Key Insights:</a:t>
            </a:r>
          </a:p>
        </p:txBody>
      </p:sp>
      <p:sp>
        <p:nvSpPr>
          <p:cNvPr id="13" name="TextBox 13">
            <a:extLst>
              <a:ext uri="{FF2B5EF4-FFF2-40B4-BE49-F238E27FC236}">
                <a16:creationId xmlns:a16="http://schemas.microsoft.com/office/drawing/2014/main" id="{B8F5144D-DD44-152B-5459-7183A9919105}"/>
              </a:ext>
            </a:extLst>
          </p:cNvPr>
          <p:cNvSpPr txBox="1"/>
          <p:nvPr/>
        </p:nvSpPr>
        <p:spPr>
          <a:xfrm>
            <a:off x="10848352" y="2583686"/>
            <a:ext cx="6410948" cy="447174"/>
          </a:xfrm>
          <a:prstGeom prst="rect">
            <a:avLst/>
          </a:prstGeom>
        </p:spPr>
        <p:txBody>
          <a:bodyPr lIns="0" tIns="0" rIns="0" bIns="0" rtlCol="0" anchor="t">
            <a:spAutoFit/>
          </a:bodyPr>
          <a:lstStyle/>
          <a:p>
            <a:pPr marL="586816" lvl="1" indent="-293408" algn="just">
              <a:lnSpc>
                <a:spcPts val="3805"/>
              </a:lnSpc>
              <a:spcBef>
                <a:spcPct val="0"/>
              </a:spcBef>
              <a:buFont typeface="Arial"/>
              <a:buChar char="•"/>
            </a:pPr>
            <a:endParaRPr lang="en-US" sz="2718" dirty="0">
              <a:solidFill>
                <a:srgbClr val="000000"/>
              </a:solidFill>
              <a:latin typeface="Times New Roman"/>
              <a:ea typeface="Times New Roman"/>
              <a:cs typeface="Times New Roman"/>
              <a:sym typeface="Times New Roman"/>
            </a:endParaRPr>
          </a:p>
        </p:txBody>
      </p:sp>
      <p:sp>
        <p:nvSpPr>
          <p:cNvPr id="19" name="TextBox 18">
            <a:extLst>
              <a:ext uri="{FF2B5EF4-FFF2-40B4-BE49-F238E27FC236}">
                <a16:creationId xmlns:a16="http://schemas.microsoft.com/office/drawing/2014/main" id="{511D7D92-EC69-A3DB-9A1D-03EB06148E8F}"/>
              </a:ext>
            </a:extLst>
          </p:cNvPr>
          <p:cNvSpPr txBox="1"/>
          <p:nvPr/>
        </p:nvSpPr>
        <p:spPr>
          <a:xfrm>
            <a:off x="11158226" y="2765038"/>
            <a:ext cx="5791200" cy="6555641"/>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Goal</a:t>
            </a:r>
            <a:r>
              <a:rPr lang="en-IN" sz="2800" dirty="0">
                <a:latin typeface="Times New Roman" panose="02020603050405020304" pitchFamily="18" charset="0"/>
                <a:cs typeface="Times New Roman" panose="02020603050405020304" pitchFamily="18" charset="0"/>
              </a:rPr>
              <a:t>: Prove that signals have unique features.</a:t>
            </a:r>
          </a:p>
          <a:p>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EEG</a:t>
            </a:r>
            <a:r>
              <a:rPr lang="en-IN" sz="2800" dirty="0">
                <a:latin typeface="Times New Roman" panose="02020603050405020304" pitchFamily="18" charset="0"/>
                <a:cs typeface="Times New Roman" panose="02020603050405020304" pitchFamily="18" charset="0"/>
              </a:rPr>
              <a:t>: The N3/N4 bar will be massive. This proves CNNs can find Deep Sleep using Delta waves. </a:t>
            </a: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US" sz="2800" b="1" dirty="0" err="1">
                <a:latin typeface="Times New Roman" panose="02020603050405020304" pitchFamily="18" charset="0"/>
                <a:cs typeface="Times New Roman" panose="02020603050405020304" pitchFamily="18" charset="0"/>
              </a:rPr>
              <a:t>EMG:</a:t>
            </a:r>
            <a:r>
              <a:rPr lang="en-US" sz="2800" dirty="0" err="1">
                <a:latin typeface="Times New Roman" panose="02020603050405020304" pitchFamily="18" charset="0"/>
                <a:cs typeface="Times New Roman" panose="02020603050405020304" pitchFamily="18" charset="0"/>
              </a:rPr>
              <a:t>The</a:t>
            </a:r>
            <a:r>
              <a:rPr lang="en-US" sz="2800" dirty="0">
                <a:latin typeface="Times New Roman" panose="02020603050405020304" pitchFamily="18" charset="0"/>
                <a:cs typeface="Times New Roman" panose="02020603050405020304" pitchFamily="18" charset="0"/>
              </a:rPr>
              <a:t> line will drop to the bottom for REM. This proves CNNs can find REM using muscle paralysis.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b="1" dirty="0">
                <a:latin typeface="Times New Roman" panose="02020603050405020304" pitchFamily="18" charset="0"/>
                <a:cs typeface="Times New Roman" panose="02020603050405020304" pitchFamily="18" charset="0"/>
              </a:rPr>
              <a:t>EOG</a:t>
            </a:r>
            <a:r>
              <a:rPr lang="en-IN" sz="2800" dirty="0">
                <a:latin typeface="Times New Roman" panose="02020603050405020304" pitchFamily="18" charset="0"/>
                <a:cs typeface="Times New Roman" panose="02020603050405020304" pitchFamily="18" charset="0"/>
              </a:rPr>
              <a:t>: Wake and REM will have long bars (eye movement), while N1/N2/N3 will be short.</a:t>
            </a:r>
          </a:p>
        </p:txBody>
      </p:sp>
      <p:pic>
        <p:nvPicPr>
          <p:cNvPr id="14" name="Picture 13">
            <a:extLst>
              <a:ext uri="{FF2B5EF4-FFF2-40B4-BE49-F238E27FC236}">
                <a16:creationId xmlns:a16="http://schemas.microsoft.com/office/drawing/2014/main" id="{B96BDBB3-F8E2-C873-D062-7C889ED93912}"/>
              </a:ext>
            </a:extLst>
          </p:cNvPr>
          <p:cNvPicPr>
            <a:picLocks noChangeAspect="1"/>
          </p:cNvPicPr>
          <p:nvPr/>
        </p:nvPicPr>
        <p:blipFill>
          <a:blip r:embed="rId3"/>
          <a:stretch>
            <a:fillRect/>
          </a:stretch>
        </p:blipFill>
        <p:spPr>
          <a:xfrm>
            <a:off x="226215" y="2621786"/>
            <a:ext cx="10108559" cy="5351590"/>
          </a:xfrm>
          <a:prstGeom prst="rect">
            <a:avLst/>
          </a:prstGeom>
        </p:spPr>
      </p:pic>
    </p:spTree>
    <p:extLst>
      <p:ext uri="{BB962C8B-B14F-4D97-AF65-F5344CB8AC3E}">
        <p14:creationId xmlns:p14="http://schemas.microsoft.com/office/powerpoint/2010/main" val="16757798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489B7D-77CA-D9E4-74BF-7F08DD0F6FFB}"/>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03B65659-C445-CA1D-3073-6CAAF604E43E}"/>
              </a:ext>
            </a:extLst>
          </p:cNvPr>
          <p:cNvSpPr/>
          <p:nvPr/>
        </p:nvSpPr>
        <p:spPr>
          <a:xfrm>
            <a:off x="60556" y="450353"/>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3"/>
            <a:stretch>
              <a:fillRect/>
            </a:stretch>
          </a:blipFill>
        </p:spPr>
        <p:txBody>
          <a:bodyPr/>
          <a:lstStyle/>
          <a:p>
            <a:endParaRPr lang="en-IN"/>
          </a:p>
        </p:txBody>
      </p:sp>
      <p:grpSp>
        <p:nvGrpSpPr>
          <p:cNvPr id="4" name="Group 4">
            <a:extLst>
              <a:ext uri="{FF2B5EF4-FFF2-40B4-BE49-F238E27FC236}">
                <a16:creationId xmlns:a16="http://schemas.microsoft.com/office/drawing/2014/main" id="{85C4241A-3476-20FA-EF10-8283686ED87B}"/>
              </a:ext>
            </a:extLst>
          </p:cNvPr>
          <p:cNvGrpSpPr/>
          <p:nvPr/>
        </p:nvGrpSpPr>
        <p:grpSpPr>
          <a:xfrm>
            <a:off x="10848352" y="1751563"/>
            <a:ext cx="6793452" cy="7712701"/>
            <a:chOff x="0" y="0"/>
            <a:chExt cx="1789222" cy="2031329"/>
          </a:xfrm>
        </p:grpSpPr>
        <p:sp>
          <p:nvSpPr>
            <p:cNvPr id="5" name="Freeform 5">
              <a:extLst>
                <a:ext uri="{FF2B5EF4-FFF2-40B4-BE49-F238E27FC236}">
                  <a16:creationId xmlns:a16="http://schemas.microsoft.com/office/drawing/2014/main" id="{822BA00C-6E40-215C-4C76-F11581E65FE7}"/>
                </a:ext>
              </a:extLst>
            </p:cNvPr>
            <p:cNvSpPr/>
            <p:nvPr/>
          </p:nvSpPr>
          <p:spPr>
            <a:xfrm>
              <a:off x="0" y="0"/>
              <a:ext cx="1789222" cy="2031329"/>
            </a:xfrm>
            <a:custGeom>
              <a:avLst/>
              <a:gdLst/>
              <a:ahLst/>
              <a:cxnLst/>
              <a:rect l="l" t="t" r="r" b="b"/>
              <a:pathLst>
                <a:path w="1789222" h="2031329">
                  <a:moveTo>
                    <a:pt x="58120" y="0"/>
                  </a:moveTo>
                  <a:lnTo>
                    <a:pt x="1731102" y="0"/>
                  </a:lnTo>
                  <a:cubicBezTo>
                    <a:pt x="1746516" y="0"/>
                    <a:pt x="1761299" y="6123"/>
                    <a:pt x="1772199" y="17023"/>
                  </a:cubicBezTo>
                  <a:cubicBezTo>
                    <a:pt x="1783099" y="27923"/>
                    <a:pt x="1789222" y="42706"/>
                    <a:pt x="1789222" y="58120"/>
                  </a:cubicBezTo>
                  <a:lnTo>
                    <a:pt x="1789222" y="1973208"/>
                  </a:lnTo>
                  <a:cubicBezTo>
                    <a:pt x="1789222" y="1988623"/>
                    <a:pt x="1783099" y="2003406"/>
                    <a:pt x="1772199" y="2014306"/>
                  </a:cubicBezTo>
                  <a:cubicBezTo>
                    <a:pt x="1761299" y="2025205"/>
                    <a:pt x="1746516" y="2031329"/>
                    <a:pt x="1731102" y="2031329"/>
                  </a:cubicBezTo>
                  <a:lnTo>
                    <a:pt x="58120" y="2031329"/>
                  </a:lnTo>
                  <a:cubicBezTo>
                    <a:pt x="42706" y="2031329"/>
                    <a:pt x="27923" y="2025205"/>
                    <a:pt x="17023" y="2014306"/>
                  </a:cubicBezTo>
                  <a:cubicBezTo>
                    <a:pt x="6123" y="2003406"/>
                    <a:pt x="0" y="1988623"/>
                    <a:pt x="0" y="1973208"/>
                  </a:cubicBezTo>
                  <a:lnTo>
                    <a:pt x="0" y="58120"/>
                  </a:lnTo>
                  <a:cubicBezTo>
                    <a:pt x="0" y="42706"/>
                    <a:pt x="6123" y="27923"/>
                    <a:pt x="17023" y="17023"/>
                  </a:cubicBezTo>
                  <a:cubicBezTo>
                    <a:pt x="27923" y="6123"/>
                    <a:pt x="42706" y="0"/>
                    <a:pt x="58120" y="0"/>
                  </a:cubicBezTo>
                  <a:close/>
                </a:path>
              </a:pathLst>
            </a:custGeom>
            <a:solidFill>
              <a:srgbClr val="000000"/>
            </a:solidFill>
          </p:spPr>
          <p:txBody>
            <a:bodyPr/>
            <a:lstStyle/>
            <a:p>
              <a:endParaRPr lang="en-IN"/>
            </a:p>
          </p:txBody>
        </p:sp>
        <p:sp>
          <p:nvSpPr>
            <p:cNvPr id="6" name="TextBox 6">
              <a:extLst>
                <a:ext uri="{FF2B5EF4-FFF2-40B4-BE49-F238E27FC236}">
                  <a16:creationId xmlns:a16="http://schemas.microsoft.com/office/drawing/2014/main" id="{816DB0E1-5750-03CD-60D6-6C87363C3DE4}"/>
                </a:ext>
              </a:extLst>
            </p:cNvPr>
            <p:cNvSpPr txBox="1"/>
            <p:nvPr/>
          </p:nvSpPr>
          <p:spPr>
            <a:xfrm>
              <a:off x="0" y="-38100"/>
              <a:ext cx="1789222" cy="206942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a:extLst>
              <a:ext uri="{FF2B5EF4-FFF2-40B4-BE49-F238E27FC236}">
                <a16:creationId xmlns:a16="http://schemas.microsoft.com/office/drawing/2014/main" id="{B8EBC72A-73A4-44E7-6C58-5DBFED95379C}"/>
              </a:ext>
            </a:extLst>
          </p:cNvPr>
          <p:cNvGrpSpPr/>
          <p:nvPr/>
        </p:nvGrpSpPr>
        <p:grpSpPr>
          <a:xfrm>
            <a:off x="10848352" y="1751563"/>
            <a:ext cx="6587488" cy="7506737"/>
            <a:chOff x="0" y="0"/>
            <a:chExt cx="1734976" cy="1977083"/>
          </a:xfrm>
        </p:grpSpPr>
        <p:sp>
          <p:nvSpPr>
            <p:cNvPr id="8" name="Freeform 8">
              <a:extLst>
                <a:ext uri="{FF2B5EF4-FFF2-40B4-BE49-F238E27FC236}">
                  <a16:creationId xmlns:a16="http://schemas.microsoft.com/office/drawing/2014/main" id="{C6DB092B-22FE-8BA7-35CD-B1FCF1B66E61}"/>
                </a:ext>
              </a:extLst>
            </p:cNvPr>
            <p:cNvSpPr/>
            <p:nvPr/>
          </p:nvSpPr>
          <p:spPr>
            <a:xfrm>
              <a:off x="0" y="0"/>
              <a:ext cx="1734976" cy="1977083"/>
            </a:xfrm>
            <a:custGeom>
              <a:avLst/>
              <a:gdLst/>
              <a:ahLst/>
              <a:cxnLst/>
              <a:rect l="l" t="t" r="r" b="b"/>
              <a:pathLst>
                <a:path w="1734976" h="1977083">
                  <a:moveTo>
                    <a:pt x="59938" y="0"/>
                  </a:moveTo>
                  <a:lnTo>
                    <a:pt x="1675039" y="0"/>
                  </a:lnTo>
                  <a:cubicBezTo>
                    <a:pt x="1690935" y="0"/>
                    <a:pt x="1706181" y="6315"/>
                    <a:pt x="1717421" y="17555"/>
                  </a:cubicBezTo>
                  <a:cubicBezTo>
                    <a:pt x="1728661" y="28796"/>
                    <a:pt x="1734976" y="44041"/>
                    <a:pt x="1734976" y="59938"/>
                  </a:cubicBezTo>
                  <a:lnTo>
                    <a:pt x="1734976" y="1917145"/>
                  </a:lnTo>
                  <a:cubicBezTo>
                    <a:pt x="1734976" y="1933042"/>
                    <a:pt x="1728661" y="1948287"/>
                    <a:pt x="1717421" y="1959528"/>
                  </a:cubicBezTo>
                  <a:cubicBezTo>
                    <a:pt x="1706181" y="1970768"/>
                    <a:pt x="1690935" y="1977083"/>
                    <a:pt x="1675039" y="1977083"/>
                  </a:cubicBezTo>
                  <a:lnTo>
                    <a:pt x="59938" y="1977083"/>
                  </a:lnTo>
                  <a:cubicBezTo>
                    <a:pt x="26835" y="1977083"/>
                    <a:pt x="0" y="1950248"/>
                    <a:pt x="0" y="1917145"/>
                  </a:cubicBezTo>
                  <a:lnTo>
                    <a:pt x="0" y="59938"/>
                  </a:lnTo>
                  <a:cubicBezTo>
                    <a:pt x="0" y="44041"/>
                    <a:pt x="6315" y="28796"/>
                    <a:pt x="17555" y="17555"/>
                  </a:cubicBezTo>
                  <a:cubicBezTo>
                    <a:pt x="28796" y="6315"/>
                    <a:pt x="44041" y="0"/>
                    <a:pt x="59938" y="0"/>
                  </a:cubicBezTo>
                  <a:close/>
                </a:path>
              </a:pathLst>
            </a:custGeom>
            <a:solidFill>
              <a:srgbClr val="FFFFFF"/>
            </a:solidFill>
            <a:ln w="38100" cap="rnd">
              <a:solidFill>
                <a:srgbClr val="000000"/>
              </a:solidFill>
              <a:prstDash val="solid"/>
              <a:round/>
            </a:ln>
          </p:spPr>
          <p:txBody>
            <a:bodyPr/>
            <a:lstStyle/>
            <a:p>
              <a:endParaRPr lang="en-IN"/>
            </a:p>
          </p:txBody>
        </p:sp>
        <p:sp>
          <p:nvSpPr>
            <p:cNvPr id="9" name="TextBox 9">
              <a:extLst>
                <a:ext uri="{FF2B5EF4-FFF2-40B4-BE49-F238E27FC236}">
                  <a16:creationId xmlns:a16="http://schemas.microsoft.com/office/drawing/2014/main" id="{A4468A9D-6DAB-DD9B-10CB-2E3A95C4FC1E}"/>
                </a:ext>
              </a:extLst>
            </p:cNvPr>
            <p:cNvSpPr txBox="1"/>
            <p:nvPr/>
          </p:nvSpPr>
          <p:spPr>
            <a:xfrm>
              <a:off x="0" y="-38100"/>
              <a:ext cx="1734976" cy="201518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28582159-9F20-E862-8FBA-9188A561F771}"/>
              </a:ext>
            </a:extLst>
          </p:cNvPr>
          <p:cNvSpPr txBox="1"/>
          <p:nvPr/>
        </p:nvSpPr>
        <p:spPr>
          <a:xfrm>
            <a:off x="4986745" y="429838"/>
            <a:ext cx="8253954" cy="598862"/>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EXPLORATORY DATA ANALYSIS –  EDA</a:t>
            </a:r>
          </a:p>
        </p:txBody>
      </p:sp>
      <p:sp>
        <p:nvSpPr>
          <p:cNvPr id="11" name="TextBox 11">
            <a:extLst>
              <a:ext uri="{FF2B5EF4-FFF2-40B4-BE49-F238E27FC236}">
                <a16:creationId xmlns:a16="http://schemas.microsoft.com/office/drawing/2014/main" id="{752EDEB4-2DF9-DD6B-7615-6CE835D84EAC}"/>
              </a:ext>
            </a:extLst>
          </p:cNvPr>
          <p:cNvSpPr txBox="1"/>
          <p:nvPr/>
        </p:nvSpPr>
        <p:spPr>
          <a:xfrm>
            <a:off x="640334" y="1593195"/>
            <a:ext cx="8427466" cy="564385"/>
          </a:xfrm>
          <a:prstGeom prst="rect">
            <a:avLst/>
          </a:prstGeom>
        </p:spPr>
        <p:txBody>
          <a:bodyPr wrap="square"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Hypnogram Analysis and Transition Matrix</a:t>
            </a:r>
          </a:p>
        </p:txBody>
      </p:sp>
      <p:sp>
        <p:nvSpPr>
          <p:cNvPr id="12" name="TextBox 12">
            <a:extLst>
              <a:ext uri="{FF2B5EF4-FFF2-40B4-BE49-F238E27FC236}">
                <a16:creationId xmlns:a16="http://schemas.microsoft.com/office/drawing/2014/main" id="{62B48707-C9F4-E68A-0788-5C44CA0A8309}"/>
              </a:ext>
            </a:extLst>
          </p:cNvPr>
          <p:cNvSpPr txBox="1"/>
          <p:nvPr/>
        </p:nvSpPr>
        <p:spPr>
          <a:xfrm>
            <a:off x="12468546" y="1875388"/>
            <a:ext cx="2472171"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Key Insights:</a:t>
            </a:r>
          </a:p>
        </p:txBody>
      </p:sp>
      <p:sp>
        <p:nvSpPr>
          <p:cNvPr id="13" name="TextBox 13">
            <a:extLst>
              <a:ext uri="{FF2B5EF4-FFF2-40B4-BE49-F238E27FC236}">
                <a16:creationId xmlns:a16="http://schemas.microsoft.com/office/drawing/2014/main" id="{66D7DE58-0C57-F0CC-6EB1-750A08114CB2}"/>
              </a:ext>
            </a:extLst>
          </p:cNvPr>
          <p:cNvSpPr txBox="1"/>
          <p:nvPr/>
        </p:nvSpPr>
        <p:spPr>
          <a:xfrm>
            <a:off x="10848352" y="2583686"/>
            <a:ext cx="6410948" cy="447174"/>
          </a:xfrm>
          <a:prstGeom prst="rect">
            <a:avLst/>
          </a:prstGeom>
        </p:spPr>
        <p:txBody>
          <a:bodyPr lIns="0" tIns="0" rIns="0" bIns="0" rtlCol="0" anchor="t">
            <a:spAutoFit/>
          </a:bodyPr>
          <a:lstStyle/>
          <a:p>
            <a:pPr marL="586816" lvl="1" indent="-293408" algn="just">
              <a:lnSpc>
                <a:spcPts val="3805"/>
              </a:lnSpc>
              <a:spcBef>
                <a:spcPct val="0"/>
              </a:spcBef>
              <a:buFont typeface="Arial"/>
              <a:buChar char="•"/>
            </a:pPr>
            <a:endParaRPr lang="en-US" sz="2718" dirty="0">
              <a:solidFill>
                <a:srgbClr val="000000"/>
              </a:solidFill>
              <a:latin typeface="Times New Roman"/>
              <a:ea typeface="Times New Roman"/>
              <a:cs typeface="Times New Roman"/>
              <a:sym typeface="Times New Roman"/>
            </a:endParaRPr>
          </a:p>
        </p:txBody>
      </p:sp>
      <p:sp>
        <p:nvSpPr>
          <p:cNvPr id="19" name="TextBox 18">
            <a:extLst>
              <a:ext uri="{FF2B5EF4-FFF2-40B4-BE49-F238E27FC236}">
                <a16:creationId xmlns:a16="http://schemas.microsoft.com/office/drawing/2014/main" id="{E1C385BC-0C99-5B05-F5C5-67B53C8D9B87}"/>
              </a:ext>
            </a:extLst>
          </p:cNvPr>
          <p:cNvSpPr txBox="1"/>
          <p:nvPr/>
        </p:nvSpPr>
        <p:spPr>
          <a:xfrm>
            <a:off x="11125200" y="2889610"/>
            <a:ext cx="5791200" cy="4401205"/>
          </a:xfrm>
          <a:prstGeom prst="rect">
            <a:avLst/>
          </a:prstGeom>
          <a:noFill/>
        </p:spPr>
        <p:txBody>
          <a:bodyPr wrap="square" rtlCol="0">
            <a:spAutoFit/>
          </a:bodyPr>
          <a:lstStyle/>
          <a:p>
            <a:r>
              <a:rPr lang="en-US" sz="2800" b="1" dirty="0">
                <a:latin typeface="Times New Roman" panose="02020603050405020304" pitchFamily="18" charset="0"/>
                <a:cs typeface="Times New Roman" panose="02020603050405020304" pitchFamily="18" charset="0"/>
              </a:rPr>
              <a:t>Hypnogram Analysis</a:t>
            </a:r>
            <a:r>
              <a:rPr lang="en-US" sz="2800" dirty="0">
                <a:latin typeface="Times New Roman" panose="02020603050405020304" pitchFamily="18" charset="0"/>
                <a:cs typeface="Times New Roman" panose="02020603050405020304" pitchFamily="18" charset="0"/>
              </a:rPr>
              <a:t>: It</a:t>
            </a:r>
          </a:p>
          <a:p>
            <a:r>
              <a:rPr lang="en-US" sz="2800" dirty="0">
                <a:latin typeface="Times New Roman" panose="02020603050405020304" pitchFamily="18" charset="0"/>
                <a:cs typeface="Times New Roman" panose="02020603050405020304" pitchFamily="18" charset="0"/>
              </a:rPr>
              <a:t>revealed that Deep Sleep (N3) is dominant in the first half of the night (Hours 0–4), while REM cycles become longer and more frequent in the second half.</a:t>
            </a:r>
          </a:p>
          <a:p>
            <a:r>
              <a:rPr lang="en-US" sz="2800" b="1" dirty="0">
                <a:latin typeface="Times New Roman" panose="02020603050405020304" pitchFamily="18" charset="0"/>
                <a:cs typeface="Times New Roman" panose="02020603050405020304" pitchFamily="18" charset="0"/>
              </a:rPr>
              <a:t>Transition Matrix</a:t>
            </a:r>
            <a:r>
              <a:rPr lang="en-US" sz="2800" dirty="0">
                <a:latin typeface="Times New Roman" panose="02020603050405020304" pitchFamily="18" charset="0"/>
                <a:cs typeface="Times New Roman" panose="02020603050405020304" pitchFamily="18" charset="0"/>
              </a:rPr>
              <a:t>: The Heatmap showed a strong "diagonal," meaning stages tend to persist. It also showed specific transition probabilities</a:t>
            </a:r>
            <a:endParaRPr lang="en-IN" sz="2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626C5FBB-3EC9-9A22-F0A9-B15221F6C5AF}"/>
              </a:ext>
            </a:extLst>
          </p:cNvPr>
          <p:cNvPicPr>
            <a:picLocks noChangeAspect="1"/>
          </p:cNvPicPr>
          <p:nvPr/>
        </p:nvPicPr>
        <p:blipFill>
          <a:blip r:embed="rId4"/>
          <a:stretch>
            <a:fillRect/>
          </a:stretch>
        </p:blipFill>
        <p:spPr>
          <a:xfrm>
            <a:off x="863883" y="2908123"/>
            <a:ext cx="8630854" cy="5048955"/>
          </a:xfrm>
          <a:prstGeom prst="rect">
            <a:avLst/>
          </a:prstGeom>
        </p:spPr>
      </p:pic>
    </p:spTree>
    <p:extLst>
      <p:ext uri="{BB962C8B-B14F-4D97-AF65-F5344CB8AC3E}">
        <p14:creationId xmlns:p14="http://schemas.microsoft.com/office/powerpoint/2010/main" val="29268370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2EF4F41-2F90-1C49-9219-BF7D59E2B3B0}"/>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2AC535C7-0600-925A-1372-5783ED98551C}"/>
              </a:ext>
            </a:extLst>
          </p:cNvPr>
          <p:cNvSpPr/>
          <p:nvPr/>
        </p:nvSpPr>
        <p:spPr>
          <a:xfrm>
            <a:off x="30278" y="450353"/>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2"/>
            <a:stretch>
              <a:fillRect/>
            </a:stretch>
          </a:blipFill>
        </p:spPr>
        <p:txBody>
          <a:bodyPr/>
          <a:lstStyle/>
          <a:p>
            <a:endParaRPr lang="en-IN"/>
          </a:p>
        </p:txBody>
      </p:sp>
      <p:grpSp>
        <p:nvGrpSpPr>
          <p:cNvPr id="4" name="Group 4">
            <a:extLst>
              <a:ext uri="{FF2B5EF4-FFF2-40B4-BE49-F238E27FC236}">
                <a16:creationId xmlns:a16="http://schemas.microsoft.com/office/drawing/2014/main" id="{46670F37-0FB0-7900-874A-39E47BFF50AD}"/>
              </a:ext>
            </a:extLst>
          </p:cNvPr>
          <p:cNvGrpSpPr/>
          <p:nvPr/>
        </p:nvGrpSpPr>
        <p:grpSpPr>
          <a:xfrm>
            <a:off x="10848352" y="1751563"/>
            <a:ext cx="6793452" cy="7712701"/>
            <a:chOff x="0" y="0"/>
            <a:chExt cx="1789222" cy="2031329"/>
          </a:xfrm>
        </p:grpSpPr>
        <p:sp>
          <p:nvSpPr>
            <p:cNvPr id="5" name="Freeform 5">
              <a:extLst>
                <a:ext uri="{FF2B5EF4-FFF2-40B4-BE49-F238E27FC236}">
                  <a16:creationId xmlns:a16="http://schemas.microsoft.com/office/drawing/2014/main" id="{F72E1F5A-8F66-2A3E-B2BE-56C5C2713A29}"/>
                </a:ext>
              </a:extLst>
            </p:cNvPr>
            <p:cNvSpPr/>
            <p:nvPr/>
          </p:nvSpPr>
          <p:spPr>
            <a:xfrm>
              <a:off x="0" y="0"/>
              <a:ext cx="1789222" cy="2031329"/>
            </a:xfrm>
            <a:custGeom>
              <a:avLst/>
              <a:gdLst/>
              <a:ahLst/>
              <a:cxnLst/>
              <a:rect l="l" t="t" r="r" b="b"/>
              <a:pathLst>
                <a:path w="1789222" h="2031329">
                  <a:moveTo>
                    <a:pt x="58120" y="0"/>
                  </a:moveTo>
                  <a:lnTo>
                    <a:pt x="1731102" y="0"/>
                  </a:lnTo>
                  <a:cubicBezTo>
                    <a:pt x="1746516" y="0"/>
                    <a:pt x="1761299" y="6123"/>
                    <a:pt x="1772199" y="17023"/>
                  </a:cubicBezTo>
                  <a:cubicBezTo>
                    <a:pt x="1783099" y="27923"/>
                    <a:pt x="1789222" y="42706"/>
                    <a:pt x="1789222" y="58120"/>
                  </a:cubicBezTo>
                  <a:lnTo>
                    <a:pt x="1789222" y="1973208"/>
                  </a:lnTo>
                  <a:cubicBezTo>
                    <a:pt x="1789222" y="1988623"/>
                    <a:pt x="1783099" y="2003406"/>
                    <a:pt x="1772199" y="2014306"/>
                  </a:cubicBezTo>
                  <a:cubicBezTo>
                    <a:pt x="1761299" y="2025205"/>
                    <a:pt x="1746516" y="2031329"/>
                    <a:pt x="1731102" y="2031329"/>
                  </a:cubicBezTo>
                  <a:lnTo>
                    <a:pt x="58120" y="2031329"/>
                  </a:lnTo>
                  <a:cubicBezTo>
                    <a:pt x="42706" y="2031329"/>
                    <a:pt x="27923" y="2025205"/>
                    <a:pt x="17023" y="2014306"/>
                  </a:cubicBezTo>
                  <a:cubicBezTo>
                    <a:pt x="6123" y="2003406"/>
                    <a:pt x="0" y="1988623"/>
                    <a:pt x="0" y="1973208"/>
                  </a:cubicBezTo>
                  <a:lnTo>
                    <a:pt x="0" y="58120"/>
                  </a:lnTo>
                  <a:cubicBezTo>
                    <a:pt x="0" y="42706"/>
                    <a:pt x="6123" y="27923"/>
                    <a:pt x="17023" y="17023"/>
                  </a:cubicBezTo>
                  <a:cubicBezTo>
                    <a:pt x="27923" y="6123"/>
                    <a:pt x="42706" y="0"/>
                    <a:pt x="58120" y="0"/>
                  </a:cubicBezTo>
                  <a:close/>
                </a:path>
              </a:pathLst>
            </a:custGeom>
            <a:solidFill>
              <a:srgbClr val="000000"/>
            </a:solidFill>
          </p:spPr>
          <p:txBody>
            <a:bodyPr/>
            <a:lstStyle/>
            <a:p>
              <a:endParaRPr lang="en-IN"/>
            </a:p>
          </p:txBody>
        </p:sp>
        <p:sp>
          <p:nvSpPr>
            <p:cNvPr id="6" name="TextBox 6">
              <a:extLst>
                <a:ext uri="{FF2B5EF4-FFF2-40B4-BE49-F238E27FC236}">
                  <a16:creationId xmlns:a16="http://schemas.microsoft.com/office/drawing/2014/main" id="{BE758F65-DA8A-7439-9C84-2FB966FF3420}"/>
                </a:ext>
              </a:extLst>
            </p:cNvPr>
            <p:cNvSpPr txBox="1"/>
            <p:nvPr/>
          </p:nvSpPr>
          <p:spPr>
            <a:xfrm>
              <a:off x="0" y="-38100"/>
              <a:ext cx="1789222" cy="2069429"/>
            </a:xfrm>
            <a:prstGeom prst="rect">
              <a:avLst/>
            </a:prstGeom>
          </p:spPr>
          <p:txBody>
            <a:bodyPr lIns="50800" tIns="50800" rIns="50800" bIns="50800" rtlCol="0" anchor="ctr"/>
            <a:lstStyle/>
            <a:p>
              <a:pPr algn="ctr">
                <a:lnSpc>
                  <a:spcPts val="2659"/>
                </a:lnSpc>
                <a:spcBef>
                  <a:spcPct val="0"/>
                </a:spcBef>
              </a:pPr>
              <a:endParaRPr/>
            </a:p>
          </p:txBody>
        </p:sp>
      </p:grpSp>
      <p:grpSp>
        <p:nvGrpSpPr>
          <p:cNvPr id="7" name="Group 7">
            <a:extLst>
              <a:ext uri="{FF2B5EF4-FFF2-40B4-BE49-F238E27FC236}">
                <a16:creationId xmlns:a16="http://schemas.microsoft.com/office/drawing/2014/main" id="{B620ED3F-E28C-12AD-3B24-59E220E3CE0D}"/>
              </a:ext>
            </a:extLst>
          </p:cNvPr>
          <p:cNvGrpSpPr/>
          <p:nvPr/>
        </p:nvGrpSpPr>
        <p:grpSpPr>
          <a:xfrm>
            <a:off x="10848352" y="1751563"/>
            <a:ext cx="6587488" cy="7506737"/>
            <a:chOff x="0" y="0"/>
            <a:chExt cx="1734976" cy="1977083"/>
          </a:xfrm>
        </p:grpSpPr>
        <p:sp>
          <p:nvSpPr>
            <p:cNvPr id="8" name="Freeform 8">
              <a:extLst>
                <a:ext uri="{FF2B5EF4-FFF2-40B4-BE49-F238E27FC236}">
                  <a16:creationId xmlns:a16="http://schemas.microsoft.com/office/drawing/2014/main" id="{CF32D038-F1EA-BAE6-1929-72DB2677B979}"/>
                </a:ext>
              </a:extLst>
            </p:cNvPr>
            <p:cNvSpPr/>
            <p:nvPr/>
          </p:nvSpPr>
          <p:spPr>
            <a:xfrm>
              <a:off x="0" y="0"/>
              <a:ext cx="1734976" cy="1977083"/>
            </a:xfrm>
            <a:custGeom>
              <a:avLst/>
              <a:gdLst/>
              <a:ahLst/>
              <a:cxnLst/>
              <a:rect l="l" t="t" r="r" b="b"/>
              <a:pathLst>
                <a:path w="1734976" h="1977083">
                  <a:moveTo>
                    <a:pt x="59938" y="0"/>
                  </a:moveTo>
                  <a:lnTo>
                    <a:pt x="1675039" y="0"/>
                  </a:lnTo>
                  <a:cubicBezTo>
                    <a:pt x="1690935" y="0"/>
                    <a:pt x="1706181" y="6315"/>
                    <a:pt x="1717421" y="17555"/>
                  </a:cubicBezTo>
                  <a:cubicBezTo>
                    <a:pt x="1728661" y="28796"/>
                    <a:pt x="1734976" y="44041"/>
                    <a:pt x="1734976" y="59938"/>
                  </a:cubicBezTo>
                  <a:lnTo>
                    <a:pt x="1734976" y="1917145"/>
                  </a:lnTo>
                  <a:cubicBezTo>
                    <a:pt x="1734976" y="1933042"/>
                    <a:pt x="1728661" y="1948287"/>
                    <a:pt x="1717421" y="1959528"/>
                  </a:cubicBezTo>
                  <a:cubicBezTo>
                    <a:pt x="1706181" y="1970768"/>
                    <a:pt x="1690935" y="1977083"/>
                    <a:pt x="1675039" y="1977083"/>
                  </a:cubicBezTo>
                  <a:lnTo>
                    <a:pt x="59938" y="1977083"/>
                  </a:lnTo>
                  <a:cubicBezTo>
                    <a:pt x="26835" y="1977083"/>
                    <a:pt x="0" y="1950248"/>
                    <a:pt x="0" y="1917145"/>
                  </a:cubicBezTo>
                  <a:lnTo>
                    <a:pt x="0" y="59938"/>
                  </a:lnTo>
                  <a:cubicBezTo>
                    <a:pt x="0" y="44041"/>
                    <a:pt x="6315" y="28796"/>
                    <a:pt x="17555" y="17555"/>
                  </a:cubicBezTo>
                  <a:cubicBezTo>
                    <a:pt x="28796" y="6315"/>
                    <a:pt x="44041" y="0"/>
                    <a:pt x="59938" y="0"/>
                  </a:cubicBezTo>
                  <a:close/>
                </a:path>
              </a:pathLst>
            </a:custGeom>
            <a:solidFill>
              <a:srgbClr val="FFFFFF"/>
            </a:solidFill>
            <a:ln w="38100" cap="rnd">
              <a:solidFill>
                <a:srgbClr val="000000"/>
              </a:solidFill>
              <a:prstDash val="solid"/>
              <a:round/>
            </a:ln>
          </p:spPr>
          <p:txBody>
            <a:bodyPr/>
            <a:lstStyle/>
            <a:p>
              <a:endParaRPr lang="en-IN"/>
            </a:p>
          </p:txBody>
        </p:sp>
        <p:sp>
          <p:nvSpPr>
            <p:cNvPr id="9" name="TextBox 9">
              <a:extLst>
                <a:ext uri="{FF2B5EF4-FFF2-40B4-BE49-F238E27FC236}">
                  <a16:creationId xmlns:a16="http://schemas.microsoft.com/office/drawing/2014/main" id="{FE9711D3-B326-AE02-DC28-F8D4814C1E64}"/>
                </a:ext>
              </a:extLst>
            </p:cNvPr>
            <p:cNvSpPr txBox="1"/>
            <p:nvPr/>
          </p:nvSpPr>
          <p:spPr>
            <a:xfrm>
              <a:off x="0" y="-38100"/>
              <a:ext cx="1734976" cy="2015183"/>
            </a:xfrm>
            <a:prstGeom prst="rect">
              <a:avLst/>
            </a:prstGeom>
          </p:spPr>
          <p:txBody>
            <a:bodyPr lIns="50800" tIns="50800" rIns="50800" bIns="50800" rtlCol="0" anchor="ctr"/>
            <a:lstStyle/>
            <a:p>
              <a:pPr algn="ctr">
                <a:lnSpc>
                  <a:spcPts val="2659"/>
                </a:lnSpc>
              </a:pPr>
              <a:endParaRPr/>
            </a:p>
          </p:txBody>
        </p:sp>
      </p:grpSp>
      <p:sp>
        <p:nvSpPr>
          <p:cNvPr id="10" name="TextBox 10">
            <a:extLst>
              <a:ext uri="{FF2B5EF4-FFF2-40B4-BE49-F238E27FC236}">
                <a16:creationId xmlns:a16="http://schemas.microsoft.com/office/drawing/2014/main" id="{99342C9D-E2A6-2AB3-1D66-A16ADBA10203}"/>
              </a:ext>
            </a:extLst>
          </p:cNvPr>
          <p:cNvSpPr txBox="1"/>
          <p:nvPr/>
        </p:nvSpPr>
        <p:spPr>
          <a:xfrm>
            <a:off x="4986745" y="429838"/>
            <a:ext cx="8253954" cy="598862"/>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EXPLORATORY DATA ANALYSIS –  EDA</a:t>
            </a:r>
          </a:p>
        </p:txBody>
      </p:sp>
      <p:sp>
        <p:nvSpPr>
          <p:cNvPr id="11" name="TextBox 11">
            <a:extLst>
              <a:ext uri="{FF2B5EF4-FFF2-40B4-BE49-F238E27FC236}">
                <a16:creationId xmlns:a16="http://schemas.microsoft.com/office/drawing/2014/main" id="{54E2D3E2-73BC-9FEB-5D83-675C8B0D989C}"/>
              </a:ext>
            </a:extLst>
          </p:cNvPr>
          <p:cNvSpPr txBox="1"/>
          <p:nvPr/>
        </p:nvSpPr>
        <p:spPr>
          <a:xfrm>
            <a:off x="640334" y="1593195"/>
            <a:ext cx="4126815" cy="564385"/>
          </a:xfrm>
          <a:prstGeom prst="rect">
            <a:avLst/>
          </a:prstGeom>
        </p:spPr>
        <p:txBody>
          <a:bodyPr lIns="0" tIns="0" rIns="0" bIns="0" rtlCol="0" anchor="t">
            <a:spAutoFit/>
          </a:bodyPr>
          <a:lstStyle/>
          <a:p>
            <a:pPr algn="ctr">
              <a:lnSpc>
                <a:spcPts val="4786"/>
              </a:lnSpc>
              <a:spcBef>
                <a:spcPct val="0"/>
              </a:spcBef>
            </a:pPr>
            <a:r>
              <a:rPr lang="en-US" sz="3417" b="1" dirty="0">
                <a:solidFill>
                  <a:srgbClr val="02488F"/>
                </a:solidFill>
                <a:latin typeface="Times New Roman Bold"/>
                <a:ea typeface="Times New Roman Bold"/>
                <a:cs typeface="Times New Roman Bold"/>
                <a:sym typeface="Times New Roman Bold"/>
              </a:rPr>
              <a:t>BOXPLOT</a:t>
            </a:r>
          </a:p>
        </p:txBody>
      </p:sp>
      <p:sp>
        <p:nvSpPr>
          <p:cNvPr id="12" name="TextBox 12">
            <a:extLst>
              <a:ext uri="{FF2B5EF4-FFF2-40B4-BE49-F238E27FC236}">
                <a16:creationId xmlns:a16="http://schemas.microsoft.com/office/drawing/2014/main" id="{56269E80-FA27-4D51-06E3-DC1F630519C3}"/>
              </a:ext>
            </a:extLst>
          </p:cNvPr>
          <p:cNvSpPr txBox="1"/>
          <p:nvPr/>
        </p:nvSpPr>
        <p:spPr>
          <a:xfrm>
            <a:off x="12468546" y="1875388"/>
            <a:ext cx="2472171"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Key Insights:</a:t>
            </a:r>
          </a:p>
        </p:txBody>
      </p:sp>
      <p:sp>
        <p:nvSpPr>
          <p:cNvPr id="13" name="TextBox 13">
            <a:extLst>
              <a:ext uri="{FF2B5EF4-FFF2-40B4-BE49-F238E27FC236}">
                <a16:creationId xmlns:a16="http://schemas.microsoft.com/office/drawing/2014/main" id="{08F66057-CFE5-7DC0-1FFD-F846F049B942}"/>
              </a:ext>
            </a:extLst>
          </p:cNvPr>
          <p:cNvSpPr txBox="1"/>
          <p:nvPr/>
        </p:nvSpPr>
        <p:spPr>
          <a:xfrm>
            <a:off x="10848352" y="2583686"/>
            <a:ext cx="6410948" cy="447174"/>
          </a:xfrm>
          <a:prstGeom prst="rect">
            <a:avLst/>
          </a:prstGeom>
        </p:spPr>
        <p:txBody>
          <a:bodyPr lIns="0" tIns="0" rIns="0" bIns="0" rtlCol="0" anchor="t">
            <a:spAutoFit/>
          </a:bodyPr>
          <a:lstStyle/>
          <a:p>
            <a:pPr marL="586816" lvl="1" indent="-293408" algn="just">
              <a:lnSpc>
                <a:spcPts val="3805"/>
              </a:lnSpc>
              <a:spcBef>
                <a:spcPct val="0"/>
              </a:spcBef>
              <a:buFont typeface="Arial"/>
              <a:buChar char="•"/>
            </a:pPr>
            <a:endParaRPr lang="en-US" sz="2718" dirty="0">
              <a:solidFill>
                <a:srgbClr val="000000"/>
              </a:solidFill>
              <a:latin typeface="Times New Roman"/>
              <a:ea typeface="Times New Roman"/>
              <a:cs typeface="Times New Roman"/>
              <a:sym typeface="Times New Roman"/>
            </a:endParaRPr>
          </a:p>
        </p:txBody>
      </p:sp>
      <p:sp>
        <p:nvSpPr>
          <p:cNvPr id="19" name="TextBox 18">
            <a:extLst>
              <a:ext uri="{FF2B5EF4-FFF2-40B4-BE49-F238E27FC236}">
                <a16:creationId xmlns:a16="http://schemas.microsoft.com/office/drawing/2014/main" id="{FB33CD25-626F-DB12-1298-E12BE388717A}"/>
              </a:ext>
            </a:extLst>
          </p:cNvPr>
          <p:cNvSpPr txBox="1"/>
          <p:nvPr/>
        </p:nvSpPr>
        <p:spPr>
          <a:xfrm>
            <a:off x="11125200" y="2889610"/>
            <a:ext cx="5791200" cy="5693866"/>
          </a:xfrm>
          <a:prstGeom prst="rect">
            <a:avLst/>
          </a:prstGeom>
          <a:noFill/>
        </p:spPr>
        <p:txBody>
          <a:bodyPr wrap="square" rtlCol="0">
            <a:spAutoFit/>
          </a:bodyPr>
          <a:lstStyle/>
          <a:p>
            <a:r>
              <a:rPr lang="en-IN" sz="2800" b="1" dirty="0">
                <a:latin typeface="Times New Roman" panose="02020603050405020304" pitchFamily="18" charset="0"/>
                <a:cs typeface="Times New Roman" panose="02020603050405020304" pitchFamily="18" charset="0"/>
              </a:rPr>
              <a:t>Deep Sleep Signature</a:t>
            </a:r>
            <a:r>
              <a:rPr lang="en-IN" sz="2800" dirty="0">
                <a:latin typeface="Times New Roman" panose="02020603050405020304" pitchFamily="18" charset="0"/>
                <a:cs typeface="Times New Roman" panose="02020603050405020304" pitchFamily="18" charset="0"/>
              </a:rPr>
              <a:t>: Delta power peaks significantly in Stage N3, confirming it as the restorative slow-wave sleep.</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Wake vs. Sleep</a:t>
            </a:r>
            <a:r>
              <a:rPr lang="en-IN" sz="2800" dirty="0">
                <a:latin typeface="Times New Roman" panose="02020603050405020304" pitchFamily="18" charset="0"/>
                <a:cs typeface="Times New Roman" panose="02020603050405020304" pitchFamily="18" charset="0"/>
              </a:rPr>
              <a:t>: Wakefulness shows high variability (outliers) due to movement artifacts.</a:t>
            </a:r>
          </a:p>
          <a:p>
            <a:endParaRPr lang="en-IN" sz="2800" dirty="0">
              <a:latin typeface="Times New Roman" panose="02020603050405020304" pitchFamily="18" charset="0"/>
              <a:cs typeface="Times New Roman" panose="02020603050405020304" pitchFamily="18" charset="0"/>
            </a:endParaRPr>
          </a:p>
          <a:p>
            <a:r>
              <a:rPr lang="en-IN" sz="2800" b="1" dirty="0">
                <a:latin typeface="Times New Roman" panose="02020603050405020304" pitchFamily="18" charset="0"/>
                <a:cs typeface="Times New Roman" panose="02020603050405020304" pitchFamily="18" charset="0"/>
              </a:rPr>
              <a:t>Separability</a:t>
            </a:r>
            <a:r>
              <a:rPr lang="en-IN" sz="2800" dirty="0">
                <a:latin typeface="Times New Roman" panose="02020603050405020304" pitchFamily="18" charset="0"/>
                <a:cs typeface="Times New Roman" panose="02020603050405020304" pitchFamily="18" charset="0"/>
              </a:rPr>
              <a:t>: Non-overlapping medians between N1, N2, and N3 indicate that EEG power is a valid discriminator for classification.</a:t>
            </a:r>
          </a:p>
        </p:txBody>
      </p:sp>
      <p:pic>
        <p:nvPicPr>
          <p:cNvPr id="4100" name="Picture 4">
            <a:extLst>
              <a:ext uri="{FF2B5EF4-FFF2-40B4-BE49-F238E27FC236}">
                <a16:creationId xmlns:a16="http://schemas.microsoft.com/office/drawing/2014/main" id="{3D84E60B-CB07-F8F1-D301-754A680C1A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16991" y="3062880"/>
            <a:ext cx="8934043" cy="568908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557257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34290"/>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2"/>
            <a:stretch>
              <a:fillRect/>
            </a:stretch>
          </a:blipFill>
        </p:spPr>
        <p:txBody>
          <a:bodyPr/>
          <a:lstStyle/>
          <a:p>
            <a:endParaRPr lang="en-IN"/>
          </a:p>
        </p:txBody>
      </p:sp>
      <p:grpSp>
        <p:nvGrpSpPr>
          <p:cNvPr id="4" name="Group 4"/>
          <p:cNvGrpSpPr/>
          <p:nvPr/>
        </p:nvGrpSpPr>
        <p:grpSpPr>
          <a:xfrm>
            <a:off x="10908075" y="5718025"/>
            <a:ext cx="6907441" cy="3086100"/>
            <a:chOff x="0" y="0"/>
            <a:chExt cx="1819244" cy="812800"/>
          </a:xfrm>
        </p:grpSpPr>
        <p:sp>
          <p:nvSpPr>
            <p:cNvPr id="5" name="Freeform 5"/>
            <p:cNvSpPr/>
            <p:nvPr/>
          </p:nvSpPr>
          <p:spPr>
            <a:xfrm>
              <a:off x="0" y="0"/>
              <a:ext cx="1819244" cy="812800"/>
            </a:xfrm>
            <a:custGeom>
              <a:avLst/>
              <a:gdLst/>
              <a:ahLst/>
              <a:cxnLst/>
              <a:rect l="l" t="t" r="r" b="b"/>
              <a:pathLst>
                <a:path w="1819244" h="812800">
                  <a:moveTo>
                    <a:pt x="57161" y="0"/>
                  </a:moveTo>
                  <a:lnTo>
                    <a:pt x="1762082" y="0"/>
                  </a:lnTo>
                  <a:cubicBezTo>
                    <a:pt x="1793652" y="0"/>
                    <a:pt x="1819244" y="25592"/>
                    <a:pt x="1819244" y="57161"/>
                  </a:cubicBezTo>
                  <a:lnTo>
                    <a:pt x="1819244" y="755639"/>
                  </a:lnTo>
                  <a:cubicBezTo>
                    <a:pt x="1819244" y="787208"/>
                    <a:pt x="1793652" y="812800"/>
                    <a:pt x="1762082" y="812800"/>
                  </a:cubicBezTo>
                  <a:lnTo>
                    <a:pt x="57161" y="812800"/>
                  </a:lnTo>
                  <a:cubicBezTo>
                    <a:pt x="25592" y="812800"/>
                    <a:pt x="0" y="787208"/>
                    <a:pt x="0" y="755639"/>
                  </a:cubicBezTo>
                  <a:lnTo>
                    <a:pt x="0" y="57161"/>
                  </a:lnTo>
                  <a:cubicBezTo>
                    <a:pt x="0" y="25592"/>
                    <a:pt x="25592" y="0"/>
                    <a:pt x="57161" y="0"/>
                  </a:cubicBezTo>
                  <a:close/>
                </a:path>
              </a:pathLst>
            </a:custGeom>
            <a:solidFill>
              <a:srgbClr val="FFFFFF"/>
            </a:solidFill>
            <a:ln w="38100" cap="rnd">
              <a:solidFill>
                <a:srgbClr val="000000"/>
              </a:solidFill>
              <a:prstDash val="solid"/>
              <a:round/>
            </a:ln>
          </p:spPr>
          <p:txBody>
            <a:bodyPr/>
            <a:lstStyle/>
            <a:p>
              <a:endParaRPr lang="en-IN" dirty="0"/>
            </a:p>
          </p:txBody>
        </p:sp>
        <p:sp>
          <p:nvSpPr>
            <p:cNvPr id="6" name="TextBox 6"/>
            <p:cNvSpPr txBox="1"/>
            <p:nvPr/>
          </p:nvSpPr>
          <p:spPr>
            <a:xfrm>
              <a:off x="0" y="-38100"/>
              <a:ext cx="1819244" cy="850900"/>
            </a:xfrm>
            <a:prstGeom prst="rect">
              <a:avLst/>
            </a:prstGeom>
          </p:spPr>
          <p:txBody>
            <a:bodyPr lIns="50800" tIns="50800" rIns="50800" bIns="50800" rtlCol="0" anchor="ctr"/>
            <a:lstStyle/>
            <a:p>
              <a:pPr algn="ctr">
                <a:lnSpc>
                  <a:spcPts val="2659"/>
                </a:lnSpc>
              </a:pPr>
              <a:endParaRPr/>
            </a:p>
          </p:txBody>
        </p:sp>
      </p:grpSp>
      <p:sp>
        <p:nvSpPr>
          <p:cNvPr id="7" name="TextBox 7"/>
          <p:cNvSpPr txBox="1"/>
          <p:nvPr/>
        </p:nvSpPr>
        <p:spPr>
          <a:xfrm>
            <a:off x="6687228" y="429838"/>
            <a:ext cx="4852988"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HYPOTHESIS TESTING</a:t>
            </a:r>
          </a:p>
        </p:txBody>
      </p:sp>
      <p:sp>
        <p:nvSpPr>
          <p:cNvPr id="8" name="TextBox 8"/>
          <p:cNvSpPr txBox="1"/>
          <p:nvPr/>
        </p:nvSpPr>
        <p:spPr>
          <a:xfrm>
            <a:off x="557925" y="1933670"/>
            <a:ext cx="7601484" cy="481331"/>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2488F"/>
                </a:solidFill>
                <a:latin typeface="Canva Sans Bold"/>
                <a:ea typeface="Canva Sans Bold"/>
                <a:cs typeface="Canva Sans Bold"/>
                <a:sym typeface="Canva Sans Bold"/>
              </a:rPr>
              <a:t>Statistical Test 1: ANNOVA</a:t>
            </a:r>
          </a:p>
        </p:txBody>
      </p:sp>
      <p:sp>
        <p:nvSpPr>
          <p:cNvPr id="9" name="TextBox 9"/>
          <p:cNvSpPr txBox="1"/>
          <p:nvPr/>
        </p:nvSpPr>
        <p:spPr>
          <a:xfrm>
            <a:off x="557925" y="2854175"/>
            <a:ext cx="8791184" cy="6254276"/>
          </a:xfrm>
          <a:prstGeom prst="rect">
            <a:avLst/>
          </a:prstGeom>
        </p:spPr>
        <p:txBody>
          <a:bodyPr lIns="0" tIns="0" rIns="0" bIns="0" rtlCol="0" anchor="t">
            <a:spAutoFit/>
          </a:bodyPr>
          <a:lstStyle/>
          <a:p>
            <a:pPr algn="just">
              <a:lnSpc>
                <a:spcPts val="3499"/>
              </a:lnSpc>
            </a:pPr>
            <a:r>
              <a:rPr lang="en-US" sz="2499" b="1" dirty="0">
                <a:solidFill>
                  <a:srgbClr val="000000"/>
                </a:solidFill>
                <a:latin typeface="Canva Sans Bold"/>
                <a:ea typeface="Canva Sans Bold"/>
                <a:cs typeface="Canva Sans Bold"/>
                <a:sym typeface="Canva Sans Bold"/>
              </a:rPr>
              <a:t>   Objective:</a:t>
            </a:r>
          </a:p>
          <a:p>
            <a:pPr marL="539746" lvl="1" indent="-269873" algn="just">
              <a:lnSpc>
                <a:spcPts val="3499"/>
              </a:lnSpc>
              <a:buFont typeface="Arial"/>
              <a:buChar char="•"/>
            </a:pPr>
            <a:r>
              <a:rPr lang="en-US" sz="2499" dirty="0">
                <a:solidFill>
                  <a:srgbClr val="000000"/>
                </a:solidFill>
                <a:latin typeface="Canva Sans"/>
                <a:ea typeface="Canva Sans"/>
                <a:cs typeface="Canva Sans"/>
                <a:sym typeface="Canva Sans"/>
              </a:rPr>
              <a:t>To scientifically prove that physiological features differ across sleep stages.</a:t>
            </a:r>
          </a:p>
          <a:p>
            <a:pPr marL="269873" lvl="1" algn="just">
              <a:lnSpc>
                <a:spcPts val="3499"/>
              </a:lnSpc>
            </a:pPr>
            <a:endParaRPr lang="en-US" sz="2499" b="1" dirty="0">
              <a:solidFill>
                <a:srgbClr val="000000"/>
              </a:solidFill>
              <a:latin typeface="Canva Sans"/>
              <a:ea typeface="Canva Sans Bold"/>
              <a:cs typeface="Canva Sans Bold"/>
              <a:sym typeface="Canva Sans"/>
            </a:endParaRPr>
          </a:p>
          <a:p>
            <a:pPr marL="269873" lvl="1" algn="just">
              <a:lnSpc>
                <a:spcPts val="3499"/>
              </a:lnSpc>
            </a:pPr>
            <a:r>
              <a:rPr lang="en-US" sz="2499" b="1" dirty="0">
                <a:solidFill>
                  <a:srgbClr val="000000"/>
                </a:solidFill>
                <a:latin typeface="Canva Sans Bold"/>
                <a:ea typeface="Canva Sans Bold"/>
                <a:cs typeface="Canva Sans Bold"/>
                <a:sym typeface="Canva Sans Bold"/>
              </a:rPr>
              <a:t>Why This Test?</a:t>
            </a:r>
          </a:p>
          <a:p>
            <a:pPr marL="539746" lvl="1" indent="-269873" algn="just">
              <a:lnSpc>
                <a:spcPts val="3499"/>
              </a:lnSpc>
              <a:spcBef>
                <a:spcPct val="0"/>
              </a:spcBef>
              <a:buFont typeface="Arial"/>
              <a:buChar char="•"/>
            </a:pPr>
            <a:r>
              <a:rPr lang="en-US" sz="2499" dirty="0">
                <a:solidFill>
                  <a:srgbClr val="000000"/>
                </a:solidFill>
                <a:latin typeface="Canva Sans"/>
                <a:ea typeface="Canva Sans"/>
                <a:cs typeface="Canva Sans"/>
                <a:sym typeface="Canva Sans"/>
              </a:rPr>
              <a:t>It mathematically proves that your features work. It checks if "Delta Power" (Deep sleep signal) is actually different in N3 compared to Wake.</a:t>
            </a:r>
          </a:p>
          <a:p>
            <a:pPr algn="just">
              <a:lnSpc>
                <a:spcPts val="3499"/>
              </a:lnSpc>
              <a:spcBef>
                <a:spcPct val="0"/>
              </a:spcBef>
            </a:pPr>
            <a:endParaRPr lang="en-US" sz="2499" dirty="0">
              <a:solidFill>
                <a:srgbClr val="000000"/>
              </a:solidFill>
              <a:latin typeface="Canva Sans"/>
              <a:ea typeface="Canva Sans"/>
              <a:cs typeface="Canva Sans"/>
              <a:sym typeface="Canva Sans"/>
            </a:endParaRPr>
          </a:p>
          <a:p>
            <a:pPr algn="just">
              <a:lnSpc>
                <a:spcPts val="3499"/>
              </a:lnSpc>
              <a:spcBef>
                <a:spcPct val="0"/>
              </a:spcBef>
            </a:pPr>
            <a:r>
              <a:rPr lang="en-US" sz="2499" b="1" dirty="0">
                <a:solidFill>
                  <a:srgbClr val="000000"/>
                </a:solidFill>
                <a:latin typeface="Canva Sans Bold"/>
                <a:ea typeface="Canva Sans Bold"/>
                <a:cs typeface="Canva Sans Bold"/>
                <a:sym typeface="Canva Sans Bold"/>
              </a:rPr>
              <a:t>Hypotheses:</a:t>
            </a:r>
          </a:p>
          <a:p>
            <a:pPr marL="539746" lvl="1" indent="-269873" algn="just">
              <a:lnSpc>
                <a:spcPts val="3499"/>
              </a:lnSpc>
              <a:spcBef>
                <a:spcPct val="0"/>
              </a:spcBef>
              <a:buFont typeface="Arial"/>
              <a:buChar char="•"/>
            </a:pPr>
            <a:r>
              <a:rPr lang="en-US" sz="2499" dirty="0">
                <a:solidFill>
                  <a:srgbClr val="000000"/>
                </a:solidFill>
                <a:latin typeface="Canva Sans"/>
                <a:ea typeface="Canva Sans"/>
                <a:cs typeface="Canva Sans"/>
                <a:sym typeface="Canva Sans"/>
              </a:rPr>
              <a:t>Null Hypothesis: Mean feature values (e.g., Delta Power) are identical across all sleep stages.</a:t>
            </a:r>
          </a:p>
          <a:p>
            <a:pPr marL="539746" lvl="1" indent="-269873" algn="just">
              <a:lnSpc>
                <a:spcPts val="3499"/>
              </a:lnSpc>
              <a:spcBef>
                <a:spcPct val="0"/>
              </a:spcBef>
              <a:buFont typeface="Arial"/>
              <a:buChar char="•"/>
            </a:pPr>
            <a:r>
              <a:rPr lang="en-US" sz="2499" dirty="0">
                <a:solidFill>
                  <a:srgbClr val="000000"/>
                </a:solidFill>
                <a:latin typeface="Canva Sans"/>
                <a:ea typeface="Canva Sans"/>
                <a:cs typeface="Canva Sans"/>
                <a:sym typeface="Canva Sans"/>
              </a:rPr>
              <a:t>H₁: A significant difference exists</a:t>
            </a:r>
          </a:p>
          <a:p>
            <a:pPr algn="just">
              <a:lnSpc>
                <a:spcPts val="3499"/>
              </a:lnSpc>
              <a:spcBef>
                <a:spcPct val="0"/>
              </a:spcBef>
            </a:pPr>
            <a:endParaRPr lang="en-US" sz="2499" dirty="0">
              <a:solidFill>
                <a:srgbClr val="000000"/>
              </a:solidFill>
              <a:latin typeface="Canva Sans"/>
              <a:ea typeface="Canva Sans"/>
              <a:cs typeface="Canva Sans"/>
              <a:sym typeface="Canva Sans"/>
            </a:endParaRPr>
          </a:p>
        </p:txBody>
      </p:sp>
      <p:sp>
        <p:nvSpPr>
          <p:cNvPr id="10" name="TextBox 10"/>
          <p:cNvSpPr txBox="1"/>
          <p:nvPr/>
        </p:nvSpPr>
        <p:spPr>
          <a:xfrm>
            <a:off x="10908075" y="1933670"/>
            <a:ext cx="6907441" cy="481331"/>
          </a:xfrm>
          <a:prstGeom prst="rect">
            <a:avLst/>
          </a:prstGeom>
        </p:spPr>
        <p:txBody>
          <a:bodyPr lIns="0" tIns="0" rIns="0" bIns="0" rtlCol="0" anchor="t">
            <a:spAutoFit/>
          </a:bodyPr>
          <a:lstStyle/>
          <a:p>
            <a:pPr algn="ctr">
              <a:lnSpc>
                <a:spcPts val="3919"/>
              </a:lnSpc>
              <a:spcBef>
                <a:spcPct val="0"/>
              </a:spcBef>
            </a:pPr>
            <a:r>
              <a:rPr lang="en-US" sz="2799" b="1" dirty="0">
                <a:solidFill>
                  <a:srgbClr val="02488F"/>
                </a:solidFill>
                <a:latin typeface="Canva Sans Bold"/>
                <a:ea typeface="Canva Sans Bold"/>
                <a:cs typeface="Canva Sans Bold"/>
                <a:sym typeface="Canva Sans Bold"/>
              </a:rPr>
              <a:t>TEST OUTPUT:</a:t>
            </a:r>
          </a:p>
        </p:txBody>
      </p:sp>
      <p:sp>
        <p:nvSpPr>
          <p:cNvPr id="12" name="AutoShape 12"/>
          <p:cNvSpPr/>
          <p:nvPr/>
        </p:nvSpPr>
        <p:spPr>
          <a:xfrm flipV="1">
            <a:off x="10128592" y="1713156"/>
            <a:ext cx="0" cy="7090969"/>
          </a:xfrm>
          <a:prstGeom prst="line">
            <a:avLst/>
          </a:prstGeom>
          <a:ln w="38100" cap="flat">
            <a:solidFill>
              <a:srgbClr val="000000"/>
            </a:solidFill>
            <a:prstDash val="solid"/>
            <a:headEnd type="oval" w="lg" len="lg"/>
            <a:tailEnd type="oval" w="lg" len="lg"/>
          </a:ln>
        </p:spPr>
        <p:txBody>
          <a:bodyPr/>
          <a:lstStyle/>
          <a:p>
            <a:endParaRPr lang="en-IN"/>
          </a:p>
        </p:txBody>
      </p:sp>
      <p:sp>
        <p:nvSpPr>
          <p:cNvPr id="15" name="TextBox 14">
            <a:extLst>
              <a:ext uri="{FF2B5EF4-FFF2-40B4-BE49-F238E27FC236}">
                <a16:creationId xmlns:a16="http://schemas.microsoft.com/office/drawing/2014/main" id="{3DA37A77-D745-7BC8-07C6-6E38BA3C9683}"/>
              </a:ext>
            </a:extLst>
          </p:cNvPr>
          <p:cNvSpPr txBox="1"/>
          <p:nvPr/>
        </p:nvSpPr>
        <p:spPr>
          <a:xfrm>
            <a:off x="11261666" y="5941376"/>
            <a:ext cx="6111933" cy="2246769"/>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Reject Null Hypothesis </a:t>
            </a:r>
          </a:p>
          <a:p>
            <a:r>
              <a:rPr lang="en-US" sz="2800" dirty="0">
                <a:latin typeface="Times New Roman" panose="02020603050405020304" pitchFamily="18" charset="0"/>
                <a:cs typeface="Times New Roman" panose="02020603050405020304" pitchFamily="18" charset="0"/>
              </a:rPr>
              <a:t>There is overwhelming statistical evidence that sleep stages have distinct physiological signatures, validating our feature selection.</a:t>
            </a:r>
            <a:endParaRPr lang="en-IN" sz="2800" dirty="0">
              <a:latin typeface="Times New Roman" panose="02020603050405020304" pitchFamily="18" charset="0"/>
              <a:cs typeface="Times New Roman" panose="02020603050405020304" pitchFamily="18" charset="0"/>
            </a:endParaRPr>
          </a:p>
        </p:txBody>
      </p:sp>
      <p:pic>
        <p:nvPicPr>
          <p:cNvPr id="17" name="Picture 16">
            <a:extLst>
              <a:ext uri="{FF2B5EF4-FFF2-40B4-BE49-F238E27FC236}">
                <a16:creationId xmlns:a16="http://schemas.microsoft.com/office/drawing/2014/main" id="{FF0EEAB4-AA06-8764-7356-4E70AC2A96C6}"/>
              </a:ext>
            </a:extLst>
          </p:cNvPr>
          <p:cNvPicPr>
            <a:picLocks noChangeAspect="1"/>
          </p:cNvPicPr>
          <p:nvPr/>
        </p:nvPicPr>
        <p:blipFill>
          <a:blip r:embed="rId3"/>
          <a:stretch>
            <a:fillRect/>
          </a:stretch>
        </p:blipFill>
        <p:spPr>
          <a:xfrm>
            <a:off x="10715681" y="2781300"/>
            <a:ext cx="6924675" cy="2366636"/>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07F123-783D-177A-B167-1FE6039A7649}"/>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53B08DA6-7E56-77B0-FCD0-FD3930F4DDD4}"/>
              </a:ext>
            </a:extLst>
          </p:cNvPr>
          <p:cNvSpPr/>
          <p:nvPr/>
        </p:nvSpPr>
        <p:spPr>
          <a:xfrm>
            <a:off x="0" y="-34290"/>
            <a:ext cx="18227444" cy="10321290"/>
          </a:xfrm>
          <a:custGeom>
            <a:avLst/>
            <a:gdLst/>
            <a:ahLst/>
            <a:cxnLst/>
            <a:rect l="l" t="t" r="r" b="b"/>
            <a:pathLst>
              <a:path w="18227444" h="10321290">
                <a:moveTo>
                  <a:pt x="0" y="0"/>
                </a:moveTo>
                <a:lnTo>
                  <a:pt x="18227444" y="0"/>
                </a:lnTo>
                <a:lnTo>
                  <a:pt x="18227444" y="10321290"/>
                </a:lnTo>
                <a:lnTo>
                  <a:pt x="0" y="10321290"/>
                </a:lnTo>
                <a:lnTo>
                  <a:pt x="0" y="0"/>
                </a:lnTo>
                <a:close/>
              </a:path>
            </a:pathLst>
          </a:custGeom>
          <a:blipFill>
            <a:blip r:embed="rId2"/>
            <a:stretch>
              <a:fillRect/>
            </a:stretch>
          </a:blipFill>
        </p:spPr>
        <p:txBody>
          <a:bodyPr/>
          <a:lstStyle/>
          <a:p>
            <a:endParaRPr lang="en-IN"/>
          </a:p>
        </p:txBody>
      </p:sp>
      <p:grpSp>
        <p:nvGrpSpPr>
          <p:cNvPr id="4" name="Group 4">
            <a:extLst>
              <a:ext uri="{FF2B5EF4-FFF2-40B4-BE49-F238E27FC236}">
                <a16:creationId xmlns:a16="http://schemas.microsoft.com/office/drawing/2014/main" id="{2B578F64-30CA-25A0-C7AD-619DA510305A}"/>
              </a:ext>
            </a:extLst>
          </p:cNvPr>
          <p:cNvGrpSpPr/>
          <p:nvPr/>
        </p:nvGrpSpPr>
        <p:grpSpPr>
          <a:xfrm>
            <a:off x="10908075" y="5718025"/>
            <a:ext cx="6907441" cy="3086100"/>
            <a:chOff x="0" y="0"/>
            <a:chExt cx="1819244" cy="812800"/>
          </a:xfrm>
        </p:grpSpPr>
        <p:sp>
          <p:nvSpPr>
            <p:cNvPr id="5" name="Freeform 5">
              <a:extLst>
                <a:ext uri="{FF2B5EF4-FFF2-40B4-BE49-F238E27FC236}">
                  <a16:creationId xmlns:a16="http://schemas.microsoft.com/office/drawing/2014/main" id="{F58216C4-953C-3517-C46D-D04C6DB62DF2}"/>
                </a:ext>
              </a:extLst>
            </p:cNvPr>
            <p:cNvSpPr/>
            <p:nvPr/>
          </p:nvSpPr>
          <p:spPr>
            <a:xfrm>
              <a:off x="0" y="0"/>
              <a:ext cx="1819244" cy="812800"/>
            </a:xfrm>
            <a:custGeom>
              <a:avLst/>
              <a:gdLst/>
              <a:ahLst/>
              <a:cxnLst/>
              <a:rect l="l" t="t" r="r" b="b"/>
              <a:pathLst>
                <a:path w="1819244" h="812800">
                  <a:moveTo>
                    <a:pt x="57161" y="0"/>
                  </a:moveTo>
                  <a:lnTo>
                    <a:pt x="1762082" y="0"/>
                  </a:lnTo>
                  <a:cubicBezTo>
                    <a:pt x="1793652" y="0"/>
                    <a:pt x="1819244" y="25592"/>
                    <a:pt x="1819244" y="57161"/>
                  </a:cubicBezTo>
                  <a:lnTo>
                    <a:pt x="1819244" y="755639"/>
                  </a:lnTo>
                  <a:cubicBezTo>
                    <a:pt x="1819244" y="787208"/>
                    <a:pt x="1793652" y="812800"/>
                    <a:pt x="1762082" y="812800"/>
                  </a:cubicBezTo>
                  <a:lnTo>
                    <a:pt x="57161" y="812800"/>
                  </a:lnTo>
                  <a:cubicBezTo>
                    <a:pt x="25592" y="812800"/>
                    <a:pt x="0" y="787208"/>
                    <a:pt x="0" y="755639"/>
                  </a:cubicBezTo>
                  <a:lnTo>
                    <a:pt x="0" y="57161"/>
                  </a:lnTo>
                  <a:cubicBezTo>
                    <a:pt x="0" y="25592"/>
                    <a:pt x="25592" y="0"/>
                    <a:pt x="57161" y="0"/>
                  </a:cubicBezTo>
                  <a:close/>
                </a:path>
              </a:pathLst>
            </a:custGeom>
            <a:solidFill>
              <a:srgbClr val="FFFFFF"/>
            </a:solidFill>
            <a:ln w="38100" cap="rnd">
              <a:solidFill>
                <a:srgbClr val="000000"/>
              </a:solidFill>
              <a:prstDash val="solid"/>
              <a:round/>
            </a:ln>
          </p:spPr>
          <p:txBody>
            <a:bodyPr/>
            <a:lstStyle/>
            <a:p>
              <a:endParaRPr lang="en-IN" dirty="0"/>
            </a:p>
          </p:txBody>
        </p:sp>
        <p:sp>
          <p:nvSpPr>
            <p:cNvPr id="6" name="TextBox 6">
              <a:extLst>
                <a:ext uri="{FF2B5EF4-FFF2-40B4-BE49-F238E27FC236}">
                  <a16:creationId xmlns:a16="http://schemas.microsoft.com/office/drawing/2014/main" id="{F75095FA-10ED-1157-4A56-E9F1F10B8882}"/>
                </a:ext>
              </a:extLst>
            </p:cNvPr>
            <p:cNvSpPr txBox="1"/>
            <p:nvPr/>
          </p:nvSpPr>
          <p:spPr>
            <a:xfrm>
              <a:off x="0" y="-38100"/>
              <a:ext cx="1819244" cy="850900"/>
            </a:xfrm>
            <a:prstGeom prst="rect">
              <a:avLst/>
            </a:prstGeom>
          </p:spPr>
          <p:txBody>
            <a:bodyPr lIns="50800" tIns="50800" rIns="50800" bIns="50800" rtlCol="0" anchor="ctr"/>
            <a:lstStyle/>
            <a:p>
              <a:pPr algn="ctr">
                <a:lnSpc>
                  <a:spcPts val="2659"/>
                </a:lnSpc>
              </a:pPr>
              <a:endParaRPr/>
            </a:p>
          </p:txBody>
        </p:sp>
      </p:grpSp>
      <p:sp>
        <p:nvSpPr>
          <p:cNvPr id="7" name="TextBox 7">
            <a:extLst>
              <a:ext uri="{FF2B5EF4-FFF2-40B4-BE49-F238E27FC236}">
                <a16:creationId xmlns:a16="http://schemas.microsoft.com/office/drawing/2014/main" id="{303DE3DC-A23B-5D62-6F0C-045622F3A125}"/>
              </a:ext>
            </a:extLst>
          </p:cNvPr>
          <p:cNvSpPr txBox="1"/>
          <p:nvPr/>
        </p:nvSpPr>
        <p:spPr>
          <a:xfrm>
            <a:off x="6687228" y="429838"/>
            <a:ext cx="4852988" cy="598862"/>
          </a:xfrm>
          <a:prstGeom prst="rect">
            <a:avLst/>
          </a:prstGeom>
        </p:spPr>
        <p:txBody>
          <a:bodyPr lIns="0" tIns="0" rIns="0" bIns="0" rtlCol="0" anchor="t">
            <a:spAutoFit/>
          </a:bodyPr>
          <a:lstStyle/>
          <a:p>
            <a:pPr algn="ctr">
              <a:lnSpc>
                <a:spcPts val="4786"/>
              </a:lnSpc>
              <a:spcBef>
                <a:spcPct val="0"/>
              </a:spcBef>
            </a:pPr>
            <a:r>
              <a:rPr lang="en-US" sz="3417" b="1">
                <a:solidFill>
                  <a:srgbClr val="02488F"/>
                </a:solidFill>
                <a:latin typeface="Times New Roman Bold"/>
                <a:ea typeface="Times New Roman Bold"/>
                <a:cs typeface="Times New Roman Bold"/>
                <a:sym typeface="Times New Roman Bold"/>
              </a:rPr>
              <a:t>HYPOTHESIS TESTING</a:t>
            </a:r>
          </a:p>
        </p:txBody>
      </p:sp>
      <p:sp>
        <p:nvSpPr>
          <p:cNvPr id="8" name="TextBox 8">
            <a:extLst>
              <a:ext uri="{FF2B5EF4-FFF2-40B4-BE49-F238E27FC236}">
                <a16:creationId xmlns:a16="http://schemas.microsoft.com/office/drawing/2014/main" id="{E6D0D032-95D1-EDAC-1AD2-CDA0DDF4722B}"/>
              </a:ext>
            </a:extLst>
          </p:cNvPr>
          <p:cNvSpPr txBox="1"/>
          <p:nvPr/>
        </p:nvSpPr>
        <p:spPr>
          <a:xfrm>
            <a:off x="557925" y="1933670"/>
            <a:ext cx="7601484" cy="481331"/>
          </a:xfrm>
          <a:prstGeom prst="rect">
            <a:avLst/>
          </a:prstGeom>
        </p:spPr>
        <p:txBody>
          <a:bodyPr wrap="square" lIns="0" tIns="0" rIns="0" bIns="0" rtlCol="0" anchor="t">
            <a:spAutoFit/>
          </a:bodyPr>
          <a:lstStyle/>
          <a:p>
            <a:pPr algn="ctr">
              <a:lnSpc>
                <a:spcPts val="3919"/>
              </a:lnSpc>
              <a:spcBef>
                <a:spcPct val="0"/>
              </a:spcBef>
            </a:pPr>
            <a:r>
              <a:rPr lang="en-US" sz="2799" b="1" dirty="0">
                <a:solidFill>
                  <a:srgbClr val="02488F"/>
                </a:solidFill>
                <a:latin typeface="Canva Sans Bold"/>
                <a:ea typeface="Canva Sans Bold"/>
                <a:cs typeface="Canva Sans Bold"/>
                <a:sym typeface="Canva Sans Bold"/>
              </a:rPr>
              <a:t>Statistical Test 1: CHI SQUARE TEST</a:t>
            </a:r>
          </a:p>
        </p:txBody>
      </p:sp>
      <p:sp>
        <p:nvSpPr>
          <p:cNvPr id="9" name="TextBox 9">
            <a:extLst>
              <a:ext uri="{FF2B5EF4-FFF2-40B4-BE49-F238E27FC236}">
                <a16:creationId xmlns:a16="http://schemas.microsoft.com/office/drawing/2014/main" id="{F067D874-5E08-0842-74D9-2A532876C4BB}"/>
              </a:ext>
            </a:extLst>
          </p:cNvPr>
          <p:cNvSpPr txBox="1"/>
          <p:nvPr/>
        </p:nvSpPr>
        <p:spPr>
          <a:xfrm>
            <a:off x="557925" y="2854175"/>
            <a:ext cx="8791184" cy="5356595"/>
          </a:xfrm>
          <a:prstGeom prst="rect">
            <a:avLst/>
          </a:prstGeom>
        </p:spPr>
        <p:txBody>
          <a:bodyPr lIns="0" tIns="0" rIns="0" bIns="0" rtlCol="0" anchor="t">
            <a:spAutoFit/>
          </a:bodyPr>
          <a:lstStyle/>
          <a:p>
            <a:pPr algn="just">
              <a:lnSpc>
                <a:spcPts val="3499"/>
              </a:lnSpc>
            </a:pPr>
            <a:r>
              <a:rPr lang="en-US" sz="2499" b="1" dirty="0">
                <a:solidFill>
                  <a:srgbClr val="000000"/>
                </a:solidFill>
                <a:latin typeface="Canva Sans Bold"/>
                <a:ea typeface="Canva Sans Bold"/>
                <a:cs typeface="Canva Sans Bold"/>
                <a:sym typeface="Canva Sans Bold"/>
              </a:rPr>
              <a:t>   Objective:</a:t>
            </a:r>
          </a:p>
          <a:p>
            <a:pPr marL="539746" lvl="1" indent="-269873" algn="just">
              <a:lnSpc>
                <a:spcPts val="3499"/>
              </a:lnSpc>
              <a:buFont typeface="Arial"/>
              <a:buChar char="•"/>
            </a:pPr>
            <a:r>
              <a:rPr lang="en-US" sz="2499" dirty="0">
                <a:solidFill>
                  <a:srgbClr val="000000"/>
                </a:solidFill>
                <a:latin typeface="Canva Sans"/>
                <a:ea typeface="Canva Sans"/>
                <a:cs typeface="Canva Sans"/>
                <a:sym typeface="Canva Sans"/>
              </a:rPr>
              <a:t>To determine if sleep stages follow a structured sequence or occur randomly. This validates the need for a sequence model (LSTM).</a:t>
            </a:r>
          </a:p>
          <a:p>
            <a:pPr algn="just">
              <a:lnSpc>
                <a:spcPts val="3499"/>
              </a:lnSpc>
              <a:spcBef>
                <a:spcPct val="0"/>
              </a:spcBef>
            </a:pPr>
            <a:endParaRPr lang="en-US" sz="2499" dirty="0">
              <a:solidFill>
                <a:srgbClr val="000000"/>
              </a:solidFill>
              <a:latin typeface="Canva Sans"/>
              <a:ea typeface="Canva Sans"/>
              <a:cs typeface="Canva Sans"/>
              <a:sym typeface="Canva Sans"/>
            </a:endParaRPr>
          </a:p>
          <a:p>
            <a:pPr algn="just">
              <a:lnSpc>
                <a:spcPts val="3499"/>
              </a:lnSpc>
              <a:spcBef>
                <a:spcPct val="0"/>
              </a:spcBef>
            </a:pPr>
            <a:r>
              <a:rPr lang="en-US" sz="2499" b="1" dirty="0">
                <a:solidFill>
                  <a:srgbClr val="000000"/>
                </a:solidFill>
                <a:latin typeface="Canva Sans Bold"/>
                <a:ea typeface="Canva Sans Bold"/>
                <a:cs typeface="Canva Sans Bold"/>
                <a:sym typeface="Canva Sans Bold"/>
              </a:rPr>
              <a:t>Hypotheses:</a:t>
            </a:r>
          </a:p>
          <a:p>
            <a:pPr marL="539746" lvl="1" indent="-269873" algn="just">
              <a:lnSpc>
                <a:spcPts val="3499"/>
              </a:lnSpc>
              <a:spcBef>
                <a:spcPct val="0"/>
              </a:spcBef>
              <a:buFont typeface="Arial"/>
              <a:buChar char="•"/>
            </a:pPr>
            <a:r>
              <a:rPr lang="en-US" sz="2499" dirty="0">
                <a:solidFill>
                  <a:srgbClr val="000000"/>
                </a:solidFill>
                <a:latin typeface="Canva Sans"/>
                <a:ea typeface="Canva Sans"/>
                <a:cs typeface="Canva Sans"/>
                <a:sym typeface="Canva Sans"/>
              </a:rPr>
              <a:t>Null Hypothesis H0: The Next Sleep Stage is independent of the Previous Sleep Stage (Random transitions).</a:t>
            </a:r>
          </a:p>
          <a:p>
            <a:pPr marL="539746" lvl="1" indent="-269873" algn="just">
              <a:lnSpc>
                <a:spcPts val="3499"/>
              </a:lnSpc>
              <a:spcBef>
                <a:spcPct val="0"/>
              </a:spcBef>
              <a:buFont typeface="Arial"/>
              <a:buChar char="•"/>
            </a:pPr>
            <a:r>
              <a:rPr lang="en-US" sz="2499" dirty="0">
                <a:solidFill>
                  <a:srgbClr val="000000"/>
                </a:solidFill>
                <a:latin typeface="Canva Sans"/>
                <a:ea typeface="Canva Sans"/>
                <a:cs typeface="Canva Sans"/>
                <a:sym typeface="Canva Sans"/>
              </a:rPr>
              <a:t>Alternate Hypothesis H1: The Next Sleep Stage is dependent on the Previous Sleep Stage (Structured transitions).</a:t>
            </a:r>
          </a:p>
        </p:txBody>
      </p:sp>
      <p:sp>
        <p:nvSpPr>
          <p:cNvPr id="10" name="TextBox 10">
            <a:extLst>
              <a:ext uri="{FF2B5EF4-FFF2-40B4-BE49-F238E27FC236}">
                <a16:creationId xmlns:a16="http://schemas.microsoft.com/office/drawing/2014/main" id="{FEB008DB-055D-00F3-9E1A-513EB8A481AB}"/>
              </a:ext>
            </a:extLst>
          </p:cNvPr>
          <p:cNvSpPr txBox="1"/>
          <p:nvPr/>
        </p:nvSpPr>
        <p:spPr>
          <a:xfrm>
            <a:off x="10908075" y="1933670"/>
            <a:ext cx="6907441" cy="481331"/>
          </a:xfrm>
          <a:prstGeom prst="rect">
            <a:avLst/>
          </a:prstGeom>
        </p:spPr>
        <p:txBody>
          <a:bodyPr lIns="0" tIns="0" rIns="0" bIns="0" rtlCol="0" anchor="t">
            <a:spAutoFit/>
          </a:bodyPr>
          <a:lstStyle/>
          <a:p>
            <a:pPr algn="ctr">
              <a:lnSpc>
                <a:spcPts val="3919"/>
              </a:lnSpc>
              <a:spcBef>
                <a:spcPct val="0"/>
              </a:spcBef>
            </a:pPr>
            <a:r>
              <a:rPr lang="en-US" sz="2799" b="1" dirty="0">
                <a:solidFill>
                  <a:srgbClr val="02488F"/>
                </a:solidFill>
                <a:latin typeface="Canva Sans Bold"/>
                <a:ea typeface="Canva Sans Bold"/>
                <a:cs typeface="Canva Sans Bold"/>
                <a:sym typeface="Canva Sans Bold"/>
              </a:rPr>
              <a:t>TEST OUTPUT:</a:t>
            </a:r>
          </a:p>
        </p:txBody>
      </p:sp>
      <p:sp>
        <p:nvSpPr>
          <p:cNvPr id="12" name="AutoShape 12">
            <a:extLst>
              <a:ext uri="{FF2B5EF4-FFF2-40B4-BE49-F238E27FC236}">
                <a16:creationId xmlns:a16="http://schemas.microsoft.com/office/drawing/2014/main" id="{64AB1994-285D-56AC-CA16-D412F25B1D57}"/>
              </a:ext>
            </a:extLst>
          </p:cNvPr>
          <p:cNvSpPr/>
          <p:nvPr/>
        </p:nvSpPr>
        <p:spPr>
          <a:xfrm flipV="1">
            <a:off x="10128592" y="1713156"/>
            <a:ext cx="0" cy="7090969"/>
          </a:xfrm>
          <a:prstGeom prst="line">
            <a:avLst/>
          </a:prstGeom>
          <a:ln w="38100" cap="flat">
            <a:solidFill>
              <a:srgbClr val="000000"/>
            </a:solidFill>
            <a:prstDash val="solid"/>
            <a:headEnd type="oval" w="lg" len="lg"/>
            <a:tailEnd type="oval" w="lg" len="lg"/>
          </a:ln>
        </p:spPr>
        <p:txBody>
          <a:bodyPr/>
          <a:lstStyle/>
          <a:p>
            <a:endParaRPr lang="en-IN"/>
          </a:p>
        </p:txBody>
      </p:sp>
      <p:sp>
        <p:nvSpPr>
          <p:cNvPr id="15" name="TextBox 14">
            <a:extLst>
              <a:ext uri="{FF2B5EF4-FFF2-40B4-BE49-F238E27FC236}">
                <a16:creationId xmlns:a16="http://schemas.microsoft.com/office/drawing/2014/main" id="{FBEFE477-C427-1675-55E2-A28EFD36C10E}"/>
              </a:ext>
            </a:extLst>
          </p:cNvPr>
          <p:cNvSpPr txBox="1"/>
          <p:nvPr/>
        </p:nvSpPr>
        <p:spPr>
          <a:xfrm>
            <a:off x="11261666" y="5941376"/>
            <a:ext cx="6111933" cy="2677656"/>
          </a:xfrm>
          <a:prstGeom prst="rect">
            <a:avLst/>
          </a:prstGeom>
          <a:noFill/>
        </p:spPr>
        <p:txBody>
          <a:bodyPr wrap="square">
            <a:spAutoFit/>
          </a:bodyPr>
          <a:lstStyle/>
          <a:p>
            <a:r>
              <a:rPr lang="en-US" sz="2800" b="1" dirty="0">
                <a:latin typeface="Times New Roman" panose="02020603050405020304" pitchFamily="18" charset="0"/>
                <a:cs typeface="Times New Roman" panose="02020603050405020304" pitchFamily="18" charset="0"/>
              </a:rPr>
              <a:t>Reject Null Hypothesis </a:t>
            </a:r>
          </a:p>
          <a:p>
            <a:r>
              <a:rPr lang="en-US" sz="2800" dirty="0">
                <a:latin typeface="Times New Roman" panose="02020603050405020304" pitchFamily="18" charset="0"/>
                <a:cs typeface="Times New Roman" panose="02020603050405020304" pitchFamily="18" charset="0"/>
              </a:rPr>
              <a:t>Sleep is not random; it follows a specific "grammar". This strong sequential dependency provides the mathematical justification for using an LSTM network over a standard Neural Network.</a:t>
            </a:r>
            <a:endParaRPr lang="en-IN" sz="2800" dirty="0">
              <a:latin typeface="Times New Roman" panose="02020603050405020304" pitchFamily="18" charset="0"/>
              <a:cs typeface="Times New Roman" panose="02020603050405020304" pitchFamily="18" charset="0"/>
            </a:endParaRPr>
          </a:p>
        </p:txBody>
      </p:sp>
      <p:pic>
        <p:nvPicPr>
          <p:cNvPr id="14" name="Picture 13">
            <a:extLst>
              <a:ext uri="{FF2B5EF4-FFF2-40B4-BE49-F238E27FC236}">
                <a16:creationId xmlns:a16="http://schemas.microsoft.com/office/drawing/2014/main" id="{4A9F3F5D-9155-6317-8B80-0EDEF35AD3D2}"/>
              </a:ext>
            </a:extLst>
          </p:cNvPr>
          <p:cNvPicPr>
            <a:picLocks noChangeAspect="1"/>
          </p:cNvPicPr>
          <p:nvPr/>
        </p:nvPicPr>
        <p:blipFill>
          <a:blip r:embed="rId3"/>
          <a:stretch>
            <a:fillRect/>
          </a:stretch>
        </p:blipFill>
        <p:spPr>
          <a:xfrm>
            <a:off x="11151422" y="3043240"/>
            <a:ext cx="6420746" cy="1638529"/>
          </a:xfrm>
          <a:prstGeom prst="rect">
            <a:avLst/>
          </a:prstGeom>
        </p:spPr>
      </p:pic>
    </p:spTree>
    <p:extLst>
      <p:ext uri="{BB962C8B-B14F-4D97-AF65-F5344CB8AC3E}">
        <p14:creationId xmlns:p14="http://schemas.microsoft.com/office/powerpoint/2010/main" val="33816598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2"/>
            <a:stretch>
              <a:fillRect l="-545" t="-272" b="-272"/>
            </a:stretch>
          </a:blipFill>
        </p:spPr>
        <p:txBody>
          <a:bodyPr/>
          <a:lstStyle/>
          <a:p>
            <a:endParaRPr lang="en-IN"/>
          </a:p>
        </p:txBody>
      </p:sp>
      <p:grpSp>
        <p:nvGrpSpPr>
          <p:cNvPr id="3" name="Group 3"/>
          <p:cNvGrpSpPr/>
          <p:nvPr/>
        </p:nvGrpSpPr>
        <p:grpSpPr>
          <a:xfrm>
            <a:off x="1590583" y="1712594"/>
            <a:ext cx="6562702" cy="7200682"/>
            <a:chOff x="0" y="0"/>
            <a:chExt cx="1728448" cy="1896476"/>
          </a:xfrm>
        </p:grpSpPr>
        <p:sp>
          <p:nvSpPr>
            <p:cNvPr id="4" name="Freeform 4"/>
            <p:cNvSpPr/>
            <p:nvPr/>
          </p:nvSpPr>
          <p:spPr>
            <a:xfrm>
              <a:off x="0" y="0"/>
              <a:ext cx="1728448" cy="1896476"/>
            </a:xfrm>
            <a:custGeom>
              <a:avLst/>
              <a:gdLst/>
              <a:ahLst/>
              <a:cxnLst/>
              <a:rect l="l" t="t" r="r" b="b"/>
              <a:pathLst>
                <a:path w="1728448" h="1896476">
                  <a:moveTo>
                    <a:pt x="0" y="0"/>
                  </a:moveTo>
                  <a:lnTo>
                    <a:pt x="1728448" y="0"/>
                  </a:lnTo>
                  <a:lnTo>
                    <a:pt x="1728448" y="1896476"/>
                  </a:lnTo>
                  <a:lnTo>
                    <a:pt x="0" y="1896476"/>
                  </a:lnTo>
                  <a:close/>
                </a:path>
              </a:pathLst>
            </a:custGeom>
            <a:solidFill>
              <a:srgbClr val="B6D5E5"/>
            </a:solidFill>
          </p:spPr>
          <p:txBody>
            <a:bodyPr/>
            <a:lstStyle/>
            <a:p>
              <a:endParaRPr lang="en-IN"/>
            </a:p>
          </p:txBody>
        </p:sp>
        <p:sp>
          <p:nvSpPr>
            <p:cNvPr id="5" name="TextBox 5"/>
            <p:cNvSpPr txBox="1"/>
            <p:nvPr/>
          </p:nvSpPr>
          <p:spPr>
            <a:xfrm>
              <a:off x="0" y="-38100"/>
              <a:ext cx="1728448" cy="1934576"/>
            </a:xfrm>
            <a:prstGeom prst="rect">
              <a:avLst/>
            </a:prstGeom>
          </p:spPr>
          <p:txBody>
            <a:bodyPr lIns="50800" tIns="50800" rIns="50800" bIns="50800" rtlCol="0" anchor="ctr"/>
            <a:lstStyle/>
            <a:p>
              <a:pPr algn="ctr">
                <a:lnSpc>
                  <a:spcPts val="2660"/>
                </a:lnSpc>
              </a:pPr>
              <a:endParaRPr/>
            </a:p>
          </p:txBody>
        </p:sp>
      </p:grpSp>
      <p:sp>
        <p:nvSpPr>
          <p:cNvPr id="6" name="TextBox 6"/>
          <p:cNvSpPr txBox="1"/>
          <p:nvPr/>
        </p:nvSpPr>
        <p:spPr>
          <a:xfrm>
            <a:off x="2223254" y="385252"/>
            <a:ext cx="13841492" cy="753796"/>
          </a:xfrm>
          <a:prstGeom prst="rect">
            <a:avLst/>
          </a:prstGeom>
        </p:spPr>
        <p:txBody>
          <a:bodyPr lIns="0" tIns="0" rIns="0" bIns="0" rtlCol="0" anchor="t">
            <a:spAutoFit/>
          </a:bodyPr>
          <a:lstStyle/>
          <a:p>
            <a:pPr algn="ctr">
              <a:lnSpc>
                <a:spcPts val="6440"/>
              </a:lnSpc>
            </a:pPr>
            <a:r>
              <a:rPr lang="en-US" sz="460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The CNN-LSTM Model Architecture</a:t>
            </a:r>
          </a:p>
        </p:txBody>
      </p:sp>
      <p:sp>
        <p:nvSpPr>
          <p:cNvPr id="7" name="TextBox 7"/>
          <p:cNvSpPr txBox="1"/>
          <p:nvPr/>
        </p:nvSpPr>
        <p:spPr>
          <a:xfrm>
            <a:off x="2077857" y="2442434"/>
            <a:ext cx="5465904" cy="5596340"/>
          </a:xfrm>
          <a:prstGeom prst="rect">
            <a:avLst/>
          </a:prstGeom>
        </p:spPr>
        <p:txBody>
          <a:bodyPr lIns="0" tIns="0" rIns="0" bIns="0" rtlCol="0" anchor="t">
            <a:spAutoFit/>
          </a:bodyPr>
          <a:lstStyle/>
          <a:p>
            <a:pPr algn="l">
              <a:lnSpc>
                <a:spcPts val="4415"/>
              </a:lnSpc>
              <a:spcBef>
                <a:spcPct val="0"/>
              </a:spcBef>
            </a:pPr>
            <a:endParaRPr dirty="0"/>
          </a:p>
          <a:p>
            <a:pPr marL="457200" indent="-457200" algn="l">
              <a:lnSpc>
                <a:spcPts val="4415"/>
              </a:lnSpc>
              <a:spcBef>
                <a:spcPct val="0"/>
              </a:spcBef>
              <a:buFont typeface="Arial" panose="020B0604020202020204" pitchFamily="34" charset="0"/>
              <a:buChar char="•"/>
            </a:pPr>
            <a:r>
              <a:rPr lang="en-US" sz="31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The Convolutional Neural Network acts as an automated feature extractor.</a:t>
            </a:r>
          </a:p>
          <a:p>
            <a:pPr marL="457200" indent="-457200" algn="l">
              <a:lnSpc>
                <a:spcPts val="4415"/>
              </a:lnSpc>
              <a:spcBef>
                <a:spcPct val="0"/>
              </a:spcBef>
              <a:buFont typeface="Arial" panose="020B0604020202020204" pitchFamily="34" charset="0"/>
              <a:buChar char="•"/>
            </a:pPr>
            <a:endParaRPr lang="en-US" sz="31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457200" indent="-457200" algn="l">
              <a:lnSpc>
                <a:spcPts val="4415"/>
              </a:lnSpc>
              <a:spcBef>
                <a:spcPct val="0"/>
              </a:spcBef>
              <a:buFont typeface="Arial" panose="020B0604020202020204" pitchFamily="34" charset="0"/>
              <a:buChar char="•"/>
            </a:pPr>
            <a:r>
              <a:rPr lang="en-US" sz="31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It scans the raw signals within each epoch to identify key waveforms and spatial patterns, such as sleep spindles and K-complexes.</a:t>
            </a:r>
          </a:p>
        </p:txBody>
      </p:sp>
      <p:sp>
        <p:nvSpPr>
          <p:cNvPr id="8" name="TextBox 8"/>
          <p:cNvSpPr txBox="1"/>
          <p:nvPr/>
        </p:nvSpPr>
        <p:spPr>
          <a:xfrm>
            <a:off x="1590583" y="1636394"/>
            <a:ext cx="6562702" cy="859594"/>
          </a:xfrm>
          <a:prstGeom prst="rect">
            <a:avLst/>
          </a:prstGeom>
        </p:spPr>
        <p:txBody>
          <a:bodyPr lIns="0" tIns="0" rIns="0" bIns="0" rtlCol="0" anchor="t">
            <a:spAutoFit/>
          </a:bodyPr>
          <a:lstStyle/>
          <a:p>
            <a:pPr algn="ctr">
              <a:lnSpc>
                <a:spcPts val="2410"/>
              </a:lnSpc>
            </a:pPr>
            <a:endParaRPr dirty="0"/>
          </a:p>
          <a:p>
            <a:pPr algn="ctr">
              <a:lnSpc>
                <a:spcPts val="4650"/>
              </a:lnSpc>
              <a:spcBef>
                <a:spcPct val="0"/>
              </a:spcBef>
            </a:pPr>
            <a:r>
              <a:rPr lang="en-US" sz="332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CNN</a:t>
            </a:r>
          </a:p>
        </p:txBody>
      </p:sp>
      <p:grpSp>
        <p:nvGrpSpPr>
          <p:cNvPr id="9" name="Group 9"/>
          <p:cNvGrpSpPr/>
          <p:nvPr/>
        </p:nvGrpSpPr>
        <p:grpSpPr>
          <a:xfrm>
            <a:off x="10042474" y="1755892"/>
            <a:ext cx="6290580" cy="7200682"/>
            <a:chOff x="0" y="0"/>
            <a:chExt cx="1656778" cy="1896476"/>
          </a:xfrm>
        </p:grpSpPr>
        <p:sp>
          <p:nvSpPr>
            <p:cNvPr id="10" name="Freeform 10"/>
            <p:cNvSpPr/>
            <p:nvPr/>
          </p:nvSpPr>
          <p:spPr>
            <a:xfrm>
              <a:off x="0" y="0"/>
              <a:ext cx="1656778" cy="1896476"/>
            </a:xfrm>
            <a:custGeom>
              <a:avLst/>
              <a:gdLst/>
              <a:ahLst/>
              <a:cxnLst/>
              <a:rect l="l" t="t" r="r" b="b"/>
              <a:pathLst>
                <a:path w="1656778" h="1896476">
                  <a:moveTo>
                    <a:pt x="0" y="0"/>
                  </a:moveTo>
                  <a:lnTo>
                    <a:pt x="1656778" y="0"/>
                  </a:lnTo>
                  <a:lnTo>
                    <a:pt x="1656778" y="1896476"/>
                  </a:lnTo>
                  <a:lnTo>
                    <a:pt x="0" y="1896476"/>
                  </a:lnTo>
                  <a:close/>
                </a:path>
              </a:pathLst>
            </a:custGeom>
            <a:solidFill>
              <a:srgbClr val="B6D5E5"/>
            </a:solidFill>
          </p:spPr>
          <p:txBody>
            <a:bodyPr/>
            <a:lstStyle/>
            <a:p>
              <a:endParaRPr lang="en-IN"/>
            </a:p>
          </p:txBody>
        </p:sp>
        <p:sp>
          <p:nvSpPr>
            <p:cNvPr id="11" name="TextBox 11"/>
            <p:cNvSpPr txBox="1"/>
            <p:nvPr/>
          </p:nvSpPr>
          <p:spPr>
            <a:xfrm>
              <a:off x="0" y="-38100"/>
              <a:ext cx="1656778" cy="1934576"/>
            </a:xfrm>
            <a:prstGeom prst="rect">
              <a:avLst/>
            </a:prstGeom>
          </p:spPr>
          <p:txBody>
            <a:bodyPr lIns="50800" tIns="50800" rIns="50800" bIns="50800" rtlCol="0" anchor="ctr"/>
            <a:lstStyle/>
            <a:p>
              <a:pPr algn="ctr">
                <a:lnSpc>
                  <a:spcPts val="2660"/>
                </a:lnSpc>
              </a:pPr>
              <a:endParaRPr/>
            </a:p>
          </p:txBody>
        </p:sp>
      </p:grpSp>
      <p:sp>
        <p:nvSpPr>
          <p:cNvPr id="12" name="TextBox 12"/>
          <p:cNvSpPr txBox="1"/>
          <p:nvPr/>
        </p:nvSpPr>
        <p:spPr>
          <a:xfrm>
            <a:off x="10336179" y="3012414"/>
            <a:ext cx="5873964" cy="5285550"/>
          </a:xfrm>
          <a:prstGeom prst="rect">
            <a:avLst/>
          </a:prstGeom>
        </p:spPr>
        <p:txBody>
          <a:bodyPr lIns="0" tIns="0" rIns="0" bIns="0" rtlCol="0" anchor="t">
            <a:spAutoFit/>
          </a:bodyPr>
          <a:lstStyle/>
          <a:p>
            <a:pPr marL="457200" indent="-457200" algn="l">
              <a:lnSpc>
                <a:spcPts val="4280"/>
              </a:lnSpc>
              <a:buFont typeface="Arial" panose="020B0604020202020204" pitchFamily="34" charset="0"/>
              <a:buChar char="•"/>
            </a:pPr>
            <a:r>
              <a:rPr lang="en-US" sz="30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Long Short-Term Memory network receives the features from the CNN.</a:t>
            </a:r>
          </a:p>
          <a:p>
            <a:pPr marL="457200" indent="-457200" algn="l">
              <a:lnSpc>
                <a:spcPts val="4280"/>
              </a:lnSpc>
              <a:buFont typeface="Arial" panose="020B0604020202020204" pitchFamily="34" charset="0"/>
              <a:buChar char="•"/>
            </a:pPr>
            <a:endParaRPr lang="en-US" sz="30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a:p>
            <a:pPr marL="457200" indent="-457200" algn="l">
              <a:lnSpc>
                <a:spcPts val="4280"/>
              </a:lnSpc>
              <a:buFont typeface="Arial" panose="020B0604020202020204" pitchFamily="34" charset="0"/>
              <a:buChar char="•"/>
            </a:pPr>
            <a:r>
              <a:rPr lang="en-US" sz="30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rPr>
              <a:t>It analyzes the sequence and temporal relationship of these patterns, understanding that sleep is a dynamic process confirmation of defect severity</a:t>
            </a:r>
          </a:p>
          <a:p>
            <a:pPr algn="l">
              <a:lnSpc>
                <a:spcPts val="2425"/>
              </a:lnSpc>
              <a:spcBef>
                <a:spcPct val="0"/>
              </a:spcBef>
            </a:pPr>
            <a:endParaRPr lang="en-US" sz="3055" b="1" dirty="0">
              <a:solidFill>
                <a:srgbClr val="000000"/>
              </a:solidFill>
              <a:latin typeface="Times New Roman Bold" panose="02030802070405020303"/>
              <a:ea typeface="Times New Roman Bold" panose="02030802070405020303"/>
              <a:cs typeface="Times New Roman Bold" panose="02030802070405020303"/>
              <a:sym typeface="Times New Roman Bold" panose="02030802070405020303"/>
            </a:endParaRPr>
          </a:p>
        </p:txBody>
      </p:sp>
      <p:sp>
        <p:nvSpPr>
          <p:cNvPr id="13" name="TextBox 13"/>
          <p:cNvSpPr txBox="1"/>
          <p:nvPr/>
        </p:nvSpPr>
        <p:spPr>
          <a:xfrm>
            <a:off x="10336179" y="1370671"/>
            <a:ext cx="5703170" cy="1150571"/>
          </a:xfrm>
          <a:prstGeom prst="rect">
            <a:avLst/>
          </a:prstGeom>
        </p:spPr>
        <p:txBody>
          <a:bodyPr lIns="0" tIns="0" rIns="0" bIns="0" rtlCol="0" anchor="t">
            <a:spAutoFit/>
          </a:bodyPr>
          <a:lstStyle/>
          <a:p>
            <a:pPr algn="ctr">
              <a:lnSpc>
                <a:spcPts val="4230"/>
              </a:lnSpc>
            </a:pPr>
            <a:endParaRPr dirty="0"/>
          </a:p>
          <a:p>
            <a:pPr algn="ctr">
              <a:lnSpc>
                <a:spcPts val="5210"/>
              </a:lnSpc>
              <a:spcBef>
                <a:spcPct val="0"/>
              </a:spcBef>
            </a:pPr>
            <a:r>
              <a:rPr lang="en-US" sz="372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LSTM</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4354889" y="331164"/>
            <a:ext cx="9578221" cy="823559"/>
          </a:xfrm>
          <a:prstGeom prst="rect">
            <a:avLst/>
          </a:prstGeom>
        </p:spPr>
        <p:txBody>
          <a:bodyPr wrap="square" lIns="0" tIns="0" rIns="0" bIns="0" rtlCol="0" anchor="t">
            <a:spAutoFit/>
          </a:bodyPr>
          <a:lstStyle/>
          <a:p>
            <a:pPr algn="ctr">
              <a:lnSpc>
                <a:spcPts val="7000"/>
              </a:lnSpc>
            </a:pPr>
            <a:r>
              <a:rPr lang="en-US" sz="500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Training History</a:t>
            </a:r>
          </a:p>
        </p:txBody>
      </p:sp>
      <p:sp>
        <p:nvSpPr>
          <p:cNvPr id="3" name="TextBox 3"/>
          <p:cNvSpPr txBox="1"/>
          <p:nvPr/>
        </p:nvSpPr>
        <p:spPr>
          <a:xfrm>
            <a:off x="390525" y="2316194"/>
            <a:ext cx="7209058" cy="5960350"/>
          </a:xfrm>
          <a:prstGeom prst="rect">
            <a:avLst/>
          </a:prstGeom>
        </p:spPr>
        <p:txBody>
          <a:bodyPr wrap="square" lIns="0" tIns="0" rIns="0" bIns="0" rtlCol="0" anchor="t">
            <a:spAutoFit/>
          </a:bodyPr>
          <a:lstStyle/>
          <a:p>
            <a:pPr algn="l">
              <a:lnSpc>
                <a:spcPts val="3900"/>
              </a:lnSpc>
            </a:pPr>
            <a:endParaRPr dirty="0"/>
          </a:p>
          <a:p>
            <a:pPr marL="601980" lvl="1" indent="-300990" algn="l">
              <a:lnSpc>
                <a:spcPts val="3900"/>
              </a:lnSpc>
              <a:buFont typeface="Arial" panose="020B0604020202020204"/>
              <a:buChar char="•"/>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Analysis: </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plots show that both training and validation accuracy steadily increased over 75 epochs, while the loss decreased.</a:t>
            </a:r>
          </a:p>
          <a:p>
            <a:pPr marL="601980" lvl="1" indent="-300990" algn="l">
              <a:lnSpc>
                <a:spcPts val="3900"/>
              </a:lnSpc>
              <a:buFont typeface="Arial" panose="020B0604020202020204"/>
              <a:buChar char="•"/>
            </a:pPr>
            <a:endPar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endParaRPr>
          </a:p>
          <a:p>
            <a:pPr marL="601980" lvl="1" indent="-300990" algn="l">
              <a:lnSpc>
                <a:spcPts val="3900"/>
              </a:lnSpc>
              <a:buFont typeface="Arial" panose="020B0604020202020204"/>
              <a:buChar char="•"/>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Insight: </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validation accuracy closely tracks the training accuracy. </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This indicates that the model is generalizing well to new, unseen data and is not overfitting (i.e., it's not just memorizing the training data).</a:t>
            </a:r>
          </a:p>
        </p:txBody>
      </p:sp>
      <p:sp>
        <p:nvSpPr>
          <p:cNvPr id="4" name="Freeform 4"/>
          <p:cNvSpPr/>
          <p:nvPr/>
        </p:nvSpPr>
        <p:spPr>
          <a:xfrm>
            <a:off x="0" y="9144000"/>
            <a:ext cx="18288000" cy="1143000"/>
          </a:xfrm>
          <a:custGeom>
            <a:avLst/>
            <a:gdLst/>
            <a:ahLst/>
            <a:cxnLst/>
            <a:rect l="l" t="t" r="r" b="b"/>
            <a:pathLst>
              <a:path w="18288000" h="1143000">
                <a:moveTo>
                  <a:pt x="0" y="0"/>
                </a:moveTo>
                <a:lnTo>
                  <a:pt x="18288000" y="0"/>
                </a:lnTo>
                <a:lnTo>
                  <a:pt x="18288000" y="1143000"/>
                </a:lnTo>
                <a:lnTo>
                  <a:pt x="0" y="1143000"/>
                </a:lnTo>
                <a:lnTo>
                  <a:pt x="0" y="0"/>
                </a:lnTo>
                <a:close/>
              </a:path>
            </a:pathLst>
          </a:custGeom>
          <a:blipFill>
            <a:blip r:embed="rId2"/>
            <a:stretch>
              <a:fillRect/>
            </a:stretch>
          </a:blipFill>
        </p:spPr>
        <p:txBody>
          <a:bodyPr/>
          <a:lstStyle/>
          <a:p>
            <a:endParaRPr lang="en-IN"/>
          </a:p>
        </p:txBody>
      </p:sp>
      <p:pic>
        <p:nvPicPr>
          <p:cNvPr id="5127" name="Picture 7">
            <a:extLst>
              <a:ext uri="{FF2B5EF4-FFF2-40B4-BE49-F238E27FC236}">
                <a16:creationId xmlns:a16="http://schemas.microsoft.com/office/drawing/2014/main" id="{F0AAF919-1F3B-E13C-C07D-E6B4AE98331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909284" y="5500295"/>
            <a:ext cx="7235716" cy="3402823"/>
          </a:xfrm>
          <a:prstGeom prst="rect">
            <a:avLst/>
          </a:prstGeom>
          <a:noFill/>
          <a:extLst>
            <a:ext uri="{909E8E84-426E-40DD-AFC4-6F175D3DCCD1}">
              <a14:hiddenFill xmlns:a14="http://schemas.microsoft.com/office/drawing/2010/main">
                <a:solidFill>
                  <a:srgbClr val="FFFFFF"/>
                </a:solidFill>
              </a14:hiddenFill>
            </a:ext>
          </a:extLst>
        </p:spPr>
      </p:pic>
      <p:pic>
        <p:nvPicPr>
          <p:cNvPr id="8194" name="Picture 2">
            <a:extLst>
              <a:ext uri="{FF2B5EF4-FFF2-40B4-BE49-F238E27FC236}">
                <a16:creationId xmlns:a16="http://schemas.microsoft.com/office/drawing/2014/main" id="{4E08EE0C-82C2-AD1D-E269-71F6E73A676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909284" y="1866900"/>
            <a:ext cx="6907543" cy="3156334"/>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84729BC0-B101-D873-06F1-9E2E0E475DA9}"/>
              </a:ext>
            </a:extLst>
          </p:cNvPr>
          <p:cNvSpPr txBox="1"/>
          <p:nvPr/>
        </p:nvSpPr>
        <p:spPr>
          <a:xfrm>
            <a:off x="9909284" y="1567435"/>
            <a:ext cx="2057400" cy="369332"/>
          </a:xfrm>
          <a:prstGeom prst="rect">
            <a:avLst/>
          </a:prstGeom>
          <a:noFill/>
        </p:spPr>
        <p:txBody>
          <a:bodyPr wrap="square" rtlCol="0">
            <a:spAutoFit/>
          </a:bodyPr>
          <a:lstStyle/>
          <a:p>
            <a:r>
              <a:rPr lang="en-US" dirty="0"/>
              <a:t>No. of Epochs : 25</a:t>
            </a:r>
            <a:endParaRPr lang="en-IN" dirty="0"/>
          </a:p>
        </p:txBody>
      </p:sp>
      <p:sp>
        <p:nvSpPr>
          <p:cNvPr id="6" name="TextBox 5">
            <a:extLst>
              <a:ext uri="{FF2B5EF4-FFF2-40B4-BE49-F238E27FC236}">
                <a16:creationId xmlns:a16="http://schemas.microsoft.com/office/drawing/2014/main" id="{43F2A9BB-CEF6-6012-0972-0FA381F9F9E3}"/>
              </a:ext>
            </a:extLst>
          </p:cNvPr>
          <p:cNvSpPr txBox="1"/>
          <p:nvPr/>
        </p:nvSpPr>
        <p:spPr>
          <a:xfrm>
            <a:off x="9909284" y="5194497"/>
            <a:ext cx="2057400" cy="369332"/>
          </a:xfrm>
          <a:prstGeom prst="rect">
            <a:avLst/>
          </a:prstGeom>
          <a:noFill/>
        </p:spPr>
        <p:txBody>
          <a:bodyPr wrap="square" rtlCol="0">
            <a:spAutoFit/>
          </a:bodyPr>
          <a:lstStyle/>
          <a:p>
            <a:r>
              <a:rPr lang="en-US" dirty="0"/>
              <a:t>No. of Epochs : 75</a:t>
            </a:r>
            <a:endParaRPr lang="en-IN"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CDE79-EEE3-E236-8CCB-5ACE5904F794}"/>
            </a:ext>
          </a:extLst>
        </p:cNvPr>
        <p:cNvGrpSpPr/>
        <p:nvPr/>
      </p:nvGrpSpPr>
      <p:grpSpPr>
        <a:xfrm>
          <a:off x="0" y="0"/>
          <a:ext cx="0" cy="0"/>
          <a:chOff x="0" y="0"/>
          <a:chExt cx="0" cy="0"/>
        </a:xfrm>
      </p:grpSpPr>
      <p:sp>
        <p:nvSpPr>
          <p:cNvPr id="2" name="TextBox 2">
            <a:extLst>
              <a:ext uri="{FF2B5EF4-FFF2-40B4-BE49-F238E27FC236}">
                <a16:creationId xmlns:a16="http://schemas.microsoft.com/office/drawing/2014/main" id="{2865D6A3-1BF8-CFA3-2958-A09174E1DC63}"/>
              </a:ext>
            </a:extLst>
          </p:cNvPr>
          <p:cNvSpPr txBox="1"/>
          <p:nvPr/>
        </p:nvSpPr>
        <p:spPr>
          <a:xfrm>
            <a:off x="4038600" y="114300"/>
            <a:ext cx="9578221" cy="823559"/>
          </a:xfrm>
          <a:prstGeom prst="rect">
            <a:avLst/>
          </a:prstGeom>
        </p:spPr>
        <p:txBody>
          <a:bodyPr wrap="square" lIns="0" tIns="0" rIns="0" bIns="0" rtlCol="0" anchor="t">
            <a:spAutoFit/>
          </a:bodyPr>
          <a:lstStyle/>
          <a:p>
            <a:pPr algn="ctr">
              <a:lnSpc>
                <a:spcPts val="7000"/>
              </a:lnSpc>
            </a:pPr>
            <a:r>
              <a:rPr lang="en-US" sz="5000" b="1" dirty="0">
                <a:solidFill>
                  <a:srgbClr val="004AAD"/>
                </a:solidFill>
                <a:latin typeface="Times New Roman Bold" panose="02030802070405020303"/>
                <a:ea typeface="Times New Roman Bold" panose="02030802070405020303"/>
                <a:cs typeface="Times New Roman Bold" panose="02030802070405020303"/>
                <a:sym typeface="Times New Roman Bold" panose="02030802070405020303"/>
              </a:rPr>
              <a:t>Performance on Unseen Subjects</a:t>
            </a:r>
          </a:p>
        </p:txBody>
      </p:sp>
      <p:sp>
        <p:nvSpPr>
          <p:cNvPr id="3" name="TextBox 3">
            <a:extLst>
              <a:ext uri="{FF2B5EF4-FFF2-40B4-BE49-F238E27FC236}">
                <a16:creationId xmlns:a16="http://schemas.microsoft.com/office/drawing/2014/main" id="{A60D519B-158B-993F-E3C7-3EA3CC230A83}"/>
              </a:ext>
            </a:extLst>
          </p:cNvPr>
          <p:cNvSpPr txBox="1"/>
          <p:nvPr/>
        </p:nvSpPr>
        <p:spPr>
          <a:xfrm>
            <a:off x="915448" y="1133533"/>
            <a:ext cx="8580658" cy="5460213"/>
          </a:xfrm>
          <a:prstGeom prst="rect">
            <a:avLst/>
          </a:prstGeom>
        </p:spPr>
        <p:txBody>
          <a:bodyPr wrap="square" lIns="0" tIns="0" rIns="0" bIns="0" rtlCol="0" anchor="t">
            <a:spAutoFit/>
          </a:bodyPr>
          <a:lstStyle/>
          <a:p>
            <a:pPr algn="l">
              <a:lnSpc>
                <a:spcPts val="3900"/>
              </a:lnSpc>
            </a:pPr>
            <a:endParaRPr dirty="0"/>
          </a:p>
          <a:p>
            <a:pPr marL="601980" lvl="1" indent="-300990" algn="l">
              <a:lnSpc>
                <a:spcPts val="3900"/>
              </a:lnSpc>
              <a:buFont typeface="Arial" panose="020B0604020202020204"/>
              <a:buChar char="•"/>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Overall Accuracy: </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model achieved an overall accuracy of  90.96% on the test set.</a:t>
            </a:r>
          </a:p>
          <a:p>
            <a:pPr marL="601980" lvl="1" indent="-300990" algn="l">
              <a:lnSpc>
                <a:spcPts val="3900"/>
              </a:lnSpc>
              <a:buFont typeface="Arial" panose="020B0604020202020204"/>
              <a:buChar char="•"/>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Confusion Matrix Analysis:</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The model shows high performance in identifying distinct stages like Wake, N2, and N3/N4.</a:t>
            </a:r>
          </a:p>
          <a:p>
            <a:pPr marL="300990" lvl="1" algn="l">
              <a:lnSpc>
                <a:spcPts val="3900"/>
              </a:lnSpc>
            </a:pPr>
            <a:r>
              <a:rPr lang="en-US" sz="2785" dirty="0">
                <a:solidFill>
                  <a:srgbClr val="000000"/>
                </a:solidFill>
                <a:latin typeface="Times New Roman" panose="02020603050405020304"/>
                <a:ea typeface="Times New Roman" panose="02020603050405020304"/>
                <a:cs typeface="Times New Roman" panose="02020603050405020304"/>
                <a:sym typeface="Times New Roman" panose="02020603050405020304"/>
              </a:rPr>
              <a:t>As expected, there is some confusion between physiologically similar stages, primarily N1 and Wake, and N1 and REM, which is a known challenge in the field.</a:t>
            </a:r>
          </a:p>
        </p:txBody>
      </p:sp>
      <p:sp>
        <p:nvSpPr>
          <p:cNvPr id="4" name="Freeform 4">
            <a:extLst>
              <a:ext uri="{FF2B5EF4-FFF2-40B4-BE49-F238E27FC236}">
                <a16:creationId xmlns:a16="http://schemas.microsoft.com/office/drawing/2014/main" id="{F27E8ADA-C7D3-AB66-ABDD-D55846DF63B3}"/>
              </a:ext>
            </a:extLst>
          </p:cNvPr>
          <p:cNvSpPr/>
          <p:nvPr/>
        </p:nvSpPr>
        <p:spPr>
          <a:xfrm>
            <a:off x="0" y="9144000"/>
            <a:ext cx="18288000" cy="1143000"/>
          </a:xfrm>
          <a:custGeom>
            <a:avLst/>
            <a:gdLst/>
            <a:ahLst/>
            <a:cxnLst/>
            <a:rect l="l" t="t" r="r" b="b"/>
            <a:pathLst>
              <a:path w="18288000" h="1143000">
                <a:moveTo>
                  <a:pt x="0" y="0"/>
                </a:moveTo>
                <a:lnTo>
                  <a:pt x="18288000" y="0"/>
                </a:lnTo>
                <a:lnTo>
                  <a:pt x="18288000" y="1143000"/>
                </a:lnTo>
                <a:lnTo>
                  <a:pt x="0" y="1143000"/>
                </a:lnTo>
                <a:lnTo>
                  <a:pt x="0" y="0"/>
                </a:lnTo>
                <a:close/>
              </a:path>
            </a:pathLst>
          </a:custGeom>
          <a:blipFill>
            <a:blip r:embed="rId2"/>
            <a:stretch>
              <a:fillRect/>
            </a:stretch>
          </a:blipFill>
        </p:spPr>
        <p:txBody>
          <a:bodyPr/>
          <a:lstStyle/>
          <a:p>
            <a:endParaRPr lang="en-IN"/>
          </a:p>
        </p:txBody>
      </p:sp>
      <p:pic>
        <p:nvPicPr>
          <p:cNvPr id="5123" name="Picture 3">
            <a:extLst>
              <a:ext uri="{FF2B5EF4-FFF2-40B4-BE49-F238E27FC236}">
                <a16:creationId xmlns:a16="http://schemas.microsoft.com/office/drawing/2014/main" id="{9E36B398-4665-E3FA-761C-E65BD49E71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134600" y="1681388"/>
            <a:ext cx="7591425" cy="6677025"/>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5">
            <a:extLst>
              <a:ext uri="{FF2B5EF4-FFF2-40B4-BE49-F238E27FC236}">
                <a16:creationId xmlns:a16="http://schemas.microsoft.com/office/drawing/2014/main" id="{14093713-61AA-FC40-42C4-57919DA5EFFB}"/>
              </a:ext>
            </a:extLst>
          </p:cNvPr>
          <p:cNvPicPr>
            <a:picLocks noChangeAspect="1"/>
          </p:cNvPicPr>
          <p:nvPr/>
        </p:nvPicPr>
        <p:blipFill>
          <a:blip r:embed="rId4"/>
          <a:stretch>
            <a:fillRect/>
          </a:stretch>
        </p:blipFill>
        <p:spPr>
          <a:xfrm>
            <a:off x="2892966" y="6486074"/>
            <a:ext cx="5229955" cy="3229426"/>
          </a:xfrm>
          <a:prstGeom prst="rect">
            <a:avLst/>
          </a:prstGeom>
        </p:spPr>
      </p:pic>
    </p:spTree>
    <p:extLst>
      <p:ext uri="{BB962C8B-B14F-4D97-AF65-F5344CB8AC3E}">
        <p14:creationId xmlns:p14="http://schemas.microsoft.com/office/powerpoint/2010/main" val="215334484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8288000" cy="10287000"/>
            <a:chOff x="0" y="0"/>
            <a:chExt cx="24384000" cy="13716000"/>
          </a:xfrm>
        </p:grpSpPr>
        <p:sp>
          <p:nvSpPr>
            <p:cNvPr id="3" name="Freeform 3"/>
            <p:cNvSpPr/>
            <p:nvPr/>
          </p:nvSpPr>
          <p:spPr>
            <a:xfrm>
              <a:off x="0" y="0"/>
              <a:ext cx="24384000" cy="13716000"/>
            </a:xfrm>
            <a:custGeom>
              <a:avLst/>
              <a:gdLst/>
              <a:ahLst/>
              <a:cxnLst/>
              <a:rect l="l" t="t" r="r" b="b"/>
              <a:pathLst>
                <a:path w="24384000" h="13716000">
                  <a:moveTo>
                    <a:pt x="0" y="0"/>
                  </a:moveTo>
                  <a:lnTo>
                    <a:pt x="24384000" y="0"/>
                  </a:lnTo>
                  <a:lnTo>
                    <a:pt x="24384000" y="13716000"/>
                  </a:lnTo>
                  <a:lnTo>
                    <a:pt x="0" y="13716000"/>
                  </a:lnTo>
                  <a:lnTo>
                    <a:pt x="0" y="0"/>
                  </a:lnTo>
                  <a:close/>
                </a:path>
              </a:pathLst>
            </a:custGeom>
            <a:blipFill>
              <a:blip r:embed="rId2"/>
              <a:stretch>
                <a:fillRect/>
              </a:stretch>
            </a:blipFill>
          </p:spPr>
          <p:txBody>
            <a:bodyPr/>
            <a:lstStyle/>
            <a:p>
              <a:endParaRPr lang="en-IN"/>
            </a:p>
          </p:txBody>
        </p:sp>
      </p:grpSp>
      <p:sp>
        <p:nvSpPr>
          <p:cNvPr id="4" name="TextBox 4"/>
          <p:cNvSpPr txBox="1"/>
          <p:nvPr/>
        </p:nvSpPr>
        <p:spPr>
          <a:xfrm>
            <a:off x="5510847" y="3636328"/>
            <a:ext cx="7266305" cy="2204719"/>
          </a:xfrm>
          <a:prstGeom prst="rect">
            <a:avLst/>
          </a:prstGeom>
        </p:spPr>
        <p:txBody>
          <a:bodyPr lIns="0" tIns="0" rIns="0" bIns="0" rtlCol="0" anchor="t">
            <a:spAutoFit/>
          </a:bodyPr>
          <a:lstStyle/>
          <a:p>
            <a:pPr algn="l">
              <a:lnSpc>
                <a:spcPts val="12880"/>
              </a:lnSpc>
            </a:pPr>
            <a:r>
              <a:rPr lang="en-US" sz="9200" b="1">
                <a:solidFill>
                  <a:srgbClr val="004AAD"/>
                </a:solidFill>
                <a:latin typeface="Times New Roman Bold"/>
                <a:ea typeface="Times New Roman Bold"/>
                <a:cs typeface="Times New Roman Bold"/>
                <a:sym typeface="Times New Roman Bold"/>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161</TotalTime>
  <Words>1228</Words>
  <Application>Microsoft Office PowerPoint</Application>
  <PresentationFormat>Custom</PresentationFormat>
  <Paragraphs>133</Paragraphs>
  <Slides>16</Slides>
  <Notes>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16</vt:i4>
      </vt:variant>
    </vt:vector>
  </HeadingPairs>
  <TitlesOfParts>
    <vt:vector size="24" baseType="lpstr">
      <vt:lpstr>Arial</vt:lpstr>
      <vt:lpstr>Aptos</vt:lpstr>
      <vt:lpstr>Canva Sans</vt:lpstr>
      <vt:lpstr>Times New Roman Bold</vt:lpstr>
      <vt:lpstr>Canva Sans Bold</vt:lpstr>
      <vt:lpstr>Times New Roman</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dav.pptx</dc:title>
  <dc:creator>HARI KARAN</dc:creator>
  <cp:lastModifiedBy>HARI KARAN</cp:lastModifiedBy>
  <cp:revision>9</cp:revision>
  <dcterms:created xsi:type="dcterms:W3CDTF">2006-08-16T00:00:00Z</dcterms:created>
  <dcterms:modified xsi:type="dcterms:W3CDTF">2025-11-25T09:41:47Z</dcterms:modified>
  <dc:identifier>DAG5VIKhaRU</dc:identifier>
</cp:coreProperties>
</file>